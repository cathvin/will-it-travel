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B2A41"/>
                </a:solidFill>
                <a:latin typeface="Calibri"/>
              </a:rPr>
              <a:t>Travel score by format (100 = same share of chart space as in the US)</a:t>
            </a:r>
          </a:p>
        </c:rich>
      </c:tx>
      <c:layout/>
      <c:overlay val="0"/>
    </c:title>
    <c:autoTitleDeleted val="0"/>
    <c:plotArea>
      <c:barChart>
        <c:barDir val="bar"/>
        <c:grouping val="clustered"/>
        <c:ser>
          <c:idx val="0"/>
          <c:order val="0"/>
          <c:tx>
            <c:strRef>
              <c:f>Sheet1!$B$1</c:f>
              <c:strCache>
                <c:ptCount val="1"/>
                <c:pt idx="0">
                  <c:v>Score</c:v>
                </c:pt>
              </c:strCache>
            </c:strRef>
          </c:tx>
          <c:dPt>
            <c:idx val="0"/>
            <c:spPr>
              <a:solidFill>
                <a:srgbClr val="E4572E"/>
              </a:solidFill>
            </c:spPr>
          </c:dPt>
          <c:dPt>
            <c:idx val="1"/>
            <c:spPr>
              <a:solidFill>
                <a:srgbClr val="5B6B82"/>
              </a:solidFill>
            </c:spPr>
          </c:dPt>
          <c:dPt>
            <c:idx val="2"/>
            <c:spPr>
              <a:solidFill>
                <a:srgbClr val="E4572E"/>
              </a:solidFill>
            </c:spPr>
          </c:dPt>
          <c:dPt>
            <c:idx val="3"/>
            <c:spPr>
              <a:solidFill>
                <a:srgbClr val="5B6B82"/>
              </a:solidFill>
            </c:spPr>
          </c:dPt>
          <c:cat>
            <c:strRef>
              <c:f>Sheet1!$A$2:$A$5</c:f>
              <c:strCache>
                <c:ptCount val="4"/>
                <c:pt idx="0">
                  <c:v>Scripted series - free-to-air</c:v>
                </c:pt>
                <c:pt idx="1">
                  <c:v>Film - free-to-air</c:v>
                </c:pt>
                <c:pt idx="2">
                  <c:v>Scripted series - free apps</c:v>
                </c:pt>
                <c:pt idx="3">
                  <c:v>Film - free apps</c:v>
                </c:pt>
              </c:strCache>
            </c:strRef>
          </c:cat>
          <c:val>
            <c:numRef>
              <c:f>Sheet1!$B$2:$B$5</c:f>
              <c:numCache>
                <c:formatCode>General</c:formatCode>
                <c:ptCount val="4"/>
                <c:pt idx="0">
                  <c:v>343</c:v>
                </c:pt>
                <c:pt idx="1">
                  <c:v>9</c:v>
                </c:pt>
                <c:pt idx="2">
                  <c:v>330</c:v>
                </c:pt>
                <c:pt idx="3">
                  <c:v>15</c:v>
                </c:pt>
              </c:numCache>
            </c:numRef>
          </c:val>
        </c:ser>
        <c:dLbls>
          <c:numFmt formatCode="0" sourceLinked="0"/>
          <c:txPr>
            <a:bodyPr/>
            <a:lstStyle/>
            <a:p>
              <a:pPr>
                <a:defRPr sz="1200">
                  <a:solidFill>
                    <a:srgbClr val="1A1A1A"/>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200">
                <a:solidFill>
                  <a:srgbClr val="1A1A1A"/>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B2A41"/>
                </a:solidFill>
                <a:latin typeface="Calibri"/>
              </a:rPr>
              <a:t>Licensed US hits that also charted on Netflix AU, by genre</a:t>
            </a:r>
          </a:p>
        </c:rich>
      </c:tx>
      <c:layout/>
      <c:overlay val="0"/>
    </c:title>
    <c:autoTitleDeleted val="0"/>
    <c:plotArea>
      <c:barChart>
        <c:barDir val="bar"/>
        <c:grouping val="clustered"/>
        <c:ser>
          <c:idx val="0"/>
          <c:order val="0"/>
          <c:tx>
            <c:strRef>
              <c:f>Sheet1!$B$1</c:f>
              <c:strCache>
                <c:ptCount val="1"/>
                <c:pt idx="0">
                  <c:v>Score</c:v>
                </c:pt>
              </c:strCache>
            </c:strRef>
          </c:tx>
          <c:dPt>
            <c:idx val="0"/>
            <c:spPr>
              <a:solidFill>
                <a:srgbClr val="E4572E"/>
              </a:solidFill>
            </c:spPr>
          </c:dPt>
          <c:dPt>
            <c:idx val="1"/>
            <c:spPr>
              <a:solidFill>
                <a:srgbClr val="E4572E"/>
              </a:solidFill>
            </c:spPr>
          </c:dPt>
          <c:dPt>
            <c:idx val="2"/>
            <c:spPr>
              <a:solidFill>
                <a:srgbClr val="E4572E"/>
              </a:solidFill>
            </c:spPr>
          </c:dPt>
          <c:dPt>
            <c:idx val="3"/>
            <c:spPr>
              <a:solidFill>
                <a:srgbClr val="E4572E"/>
              </a:solidFill>
            </c:spPr>
          </c:dPt>
          <c:dPt>
            <c:idx val="4"/>
            <c:spPr>
              <a:solidFill>
                <a:srgbClr val="5B6B82"/>
              </a:solidFill>
            </c:spPr>
          </c:dPt>
          <c:dPt>
            <c:idx val="5"/>
            <c:spPr>
              <a:solidFill>
                <a:srgbClr val="5B6B82"/>
              </a:solidFill>
            </c:spPr>
          </c:dPt>
          <c:dPt>
            <c:idx val="6"/>
            <c:spPr>
              <a:solidFill>
                <a:srgbClr val="5B6B82"/>
              </a:solidFill>
            </c:spPr>
          </c:dPt>
          <c:dPt>
            <c:idx val="7"/>
            <c:spPr>
              <a:solidFill>
                <a:srgbClr val="5B6B82"/>
              </a:solidFill>
            </c:spPr>
          </c:dPt>
          <c:cat>
            <c:strRef>
              <c:f>Sheet1!$A$2:$A$9</c:f>
              <c:strCache>
                <c:ptCount val="8"/>
                <c:pt idx="0">
                  <c:v>Documentary</c:v>
                </c:pt>
                <c:pt idx="1">
                  <c:v>Family &amp; Animation</c:v>
                </c:pt>
                <c:pt idx="2">
                  <c:v>Comedy</c:v>
                </c:pt>
                <c:pt idx="3">
                  <c:v>Horror</c:v>
                </c:pt>
                <c:pt idx="4">
                  <c:v>Crime &amp; Thriller</c:v>
                </c:pt>
                <c:pt idx="5">
                  <c:v>Drama</c:v>
                </c:pt>
                <c:pt idx="6">
                  <c:v>Sci-Fi &amp; Fantasy</c:v>
                </c:pt>
                <c:pt idx="7">
                  <c:v>Action &amp; Adventure</c:v>
                </c:pt>
              </c:strCache>
            </c:strRef>
          </c:cat>
          <c:val>
            <c:numRef>
              <c:f>Sheet1!$B$2:$B$9</c:f>
              <c:numCache>
                <c:formatCode>General</c:formatCode>
                <c:ptCount val="8"/>
                <c:pt idx="0">
                  <c:v>0.708</c:v>
                </c:pt>
                <c:pt idx="1">
                  <c:v>0.321</c:v>
                </c:pt>
                <c:pt idx="2">
                  <c:v>0.304</c:v>
                </c:pt>
                <c:pt idx="3">
                  <c:v>0.294</c:v>
                </c:pt>
                <c:pt idx="4">
                  <c:v>0.216</c:v>
                </c:pt>
                <c:pt idx="5">
                  <c:v>0.176</c:v>
                </c:pt>
                <c:pt idx="6">
                  <c:v>0.16</c:v>
                </c:pt>
                <c:pt idx="7">
                  <c:v>0.062</c:v>
                </c:pt>
              </c:numCache>
            </c:numRef>
          </c:val>
        </c:ser>
        <c:dLbls>
          <c:numFmt formatCode="0%" sourceLinked="0"/>
          <c:txPr>
            <a:bodyPr/>
            <a:lstStyle/>
            <a:p>
              <a:pPr>
                <a:defRPr sz="1200">
                  <a:solidFill>
                    <a:srgbClr val="1A1A1A"/>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200">
                <a:solidFill>
                  <a:srgbClr val="1A1A1A"/>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B2A41"/>
                </a:solidFill>
                <a:latin typeface="Calibri"/>
              </a:rPr>
              <a:t>Travel score by genre, paid streaming (100 = same share as in the US)</a:t>
            </a:r>
          </a:p>
        </c:rich>
      </c:tx>
      <c:layout/>
      <c:overlay val="0"/>
    </c:title>
    <c:autoTitleDeleted val="0"/>
    <c:plotArea>
      <c:barChart>
        <c:barDir val="bar"/>
        <c:grouping val="clustered"/>
        <c:ser>
          <c:idx val="0"/>
          <c:order val="0"/>
          <c:tx>
            <c:strRef>
              <c:f>Sheet1!$B$1</c:f>
              <c:strCache>
                <c:ptCount val="1"/>
                <c:pt idx="0">
                  <c:v>Score</c:v>
                </c:pt>
              </c:strCache>
            </c:strRef>
          </c:tx>
          <c:dPt>
            <c:idx val="0"/>
            <c:spPr>
              <a:solidFill>
                <a:srgbClr val="E4572E"/>
              </a:solidFill>
            </c:spPr>
          </c:dPt>
          <c:dPt>
            <c:idx val="1"/>
            <c:spPr>
              <a:solidFill>
                <a:srgbClr val="E4572E"/>
              </a:solidFill>
            </c:spPr>
          </c:dPt>
          <c:dPt>
            <c:idx val="2"/>
            <c:spPr>
              <a:solidFill>
                <a:srgbClr val="E4572E"/>
              </a:solidFill>
            </c:spPr>
          </c:dPt>
          <c:dPt>
            <c:idx val="3"/>
            <c:spPr>
              <a:solidFill>
                <a:srgbClr val="E4572E"/>
              </a:solidFill>
            </c:spPr>
          </c:dPt>
          <c:dPt>
            <c:idx val="4"/>
            <c:spPr>
              <a:solidFill>
                <a:srgbClr val="E4572E"/>
              </a:solidFill>
            </c:spPr>
          </c:dPt>
          <c:dPt>
            <c:idx val="5"/>
            <c:spPr>
              <a:solidFill>
                <a:srgbClr val="E4572E"/>
              </a:solidFill>
            </c:spPr>
          </c:dPt>
          <c:dPt>
            <c:idx val="6"/>
            <c:spPr>
              <a:solidFill>
                <a:srgbClr val="5B6B82"/>
              </a:solidFill>
            </c:spPr>
          </c:dPt>
          <c:dPt>
            <c:idx val="7"/>
            <c:spPr>
              <a:solidFill>
                <a:srgbClr val="5B6B82"/>
              </a:solidFill>
            </c:spPr>
          </c:dPt>
          <c:dPt>
            <c:idx val="8"/>
            <c:spPr>
              <a:solidFill>
                <a:srgbClr val="5B6B82"/>
              </a:solidFill>
            </c:spPr>
          </c:dPt>
          <c:dPt>
            <c:idx val="9"/>
            <c:spPr>
              <a:solidFill>
                <a:srgbClr val="5B6B82"/>
              </a:solidFill>
            </c:spPr>
          </c:dPt>
          <c:cat>
            <c:strRef>
              <c:f>Sheet1!$A$2:$A$11</c:f>
              <c:strCache>
                <c:ptCount val="10"/>
                <c:pt idx="0">
                  <c:v>Romance</c:v>
                </c:pt>
                <c:pt idx="1">
                  <c:v>Horror</c:v>
                </c:pt>
                <c:pt idx="2">
                  <c:v>Comedy</c:v>
                </c:pt>
                <c:pt idx="3">
                  <c:v>Documentary</c:v>
                </c:pt>
                <c:pt idx="4">
                  <c:v>Family &amp; Animation</c:v>
                </c:pt>
                <c:pt idx="5">
                  <c:v>Sci-Fi &amp; Fantasy</c:v>
                </c:pt>
                <c:pt idx="6">
                  <c:v>Action &amp; Adventure</c:v>
                </c:pt>
                <c:pt idx="7">
                  <c:v>Crime &amp; Thriller</c:v>
                </c:pt>
                <c:pt idx="8">
                  <c:v>Drama</c:v>
                </c:pt>
                <c:pt idx="9">
                  <c:v>Reality</c:v>
                </c:pt>
              </c:strCache>
            </c:strRef>
          </c:cat>
          <c:val>
            <c:numRef>
              <c:f>Sheet1!$B$2:$B$11</c:f>
              <c:numCache>
                <c:formatCode>General</c:formatCode>
                <c:ptCount val="10"/>
                <c:pt idx="0">
                  <c:v>137</c:v>
                </c:pt>
                <c:pt idx="1">
                  <c:v>134</c:v>
                </c:pt>
                <c:pt idx="2">
                  <c:v>118</c:v>
                </c:pt>
                <c:pt idx="3">
                  <c:v>116</c:v>
                </c:pt>
                <c:pt idx="4">
                  <c:v>114</c:v>
                </c:pt>
                <c:pt idx="5">
                  <c:v>113</c:v>
                </c:pt>
                <c:pt idx="6">
                  <c:v>104</c:v>
                </c:pt>
                <c:pt idx="7">
                  <c:v>96</c:v>
                </c:pt>
                <c:pt idx="8">
                  <c:v>65</c:v>
                </c:pt>
                <c:pt idx="9">
                  <c:v>50</c:v>
                </c:pt>
              </c:numCache>
            </c:numRef>
          </c:val>
        </c:ser>
        <c:dLbls>
          <c:numFmt formatCode="0" sourceLinked="0"/>
          <c:txPr>
            <a:bodyPr/>
            <a:lstStyle/>
            <a:p>
              <a:pPr>
                <a:defRPr sz="1200">
                  <a:solidFill>
                    <a:srgbClr val="1A1A1A"/>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200">
                <a:solidFill>
                  <a:srgbClr val="1A1A1A"/>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answer. Three moves: procedurals to free TV, films/docs/family to paid streamers, and marketing support for titles already licensed. Data: Oct 2025 - Sep 2026, rankings only (never raw audiences).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Australian free TV is mostly local: news, sport and Australian programs take ~90% of top-30 slots. When US content gets in, it is scripted crime series. Films almost never chart. Small sample (~10 US titles) - direction, not precision.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Same-title lens on Netflix Top 10 US vs Australia (52 weeks each, same metric). Netflix originals excluded from the genre chart because they launch globally. Documentary is the standout for licensed titles.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Australians watch US horror, comedy and docs on streaming more than the US weight would predict. US reality under-indexes because local versions (MAFS, The Block, Love Island Australia) fill that need.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A = charted in US Top 10s, never in Australia, no Australian streaming home (JustWatch via TMDB). Tier B = NBCU titles 2022-2025 with strong US audience signal and no Australian home; weaker evidence. Full list with evidence in data/processed/sell_next.csv and the briefs in outputs/briefs/.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actions and be upfront about the data limits.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548640" y="320040"/>
            <a:ext cx="11064240" cy="1005840"/>
          </a:xfrm>
          <a:prstGeom prst="rect">
            <a:avLst/>
          </a:prstGeom>
          <a:noFill/>
        </p:spPr>
        <p:txBody>
          <a:bodyPr wrap="square" anchor="t" lIns="0" rIns="0">
            <a:spAutoFit/>
          </a:bodyPr>
          <a:lstStyle/>
          <a:p>
            <a:pPr algn="l">
              <a:spcAft>
                <a:spcPts val="600"/>
              </a:spcAft>
            </a:pPr>
            <a:r>
              <a:rPr sz="3000" b="1">
                <a:solidFill>
                  <a:srgbClr val="FFFFFF"/>
                </a:solidFill>
                <a:latin typeface="Cambria"/>
              </a:rPr>
              <a:t>Recommendation: procedurals to free TV, films and docs to paid streamers</a:t>
            </a:r>
          </a:p>
        </p:txBody>
      </p:sp>
      <p:sp>
        <p:nvSpPr>
          <p:cNvPr id="3" name="TextBox 2"/>
          <p:cNvSpPr txBox="1"/>
          <p:nvPr/>
        </p:nvSpPr>
        <p:spPr>
          <a:xfrm>
            <a:off x="548640" y="6400800"/>
            <a:ext cx="11064240" cy="274320"/>
          </a:xfrm>
          <a:prstGeom prst="rect">
            <a:avLst/>
          </a:prstGeom>
          <a:noFill/>
        </p:spPr>
        <p:txBody>
          <a:bodyPr wrap="square" anchor="t" lIns="0" rIns="0">
            <a:spAutoFit/>
          </a:bodyPr>
          <a:lstStyle/>
          <a:p>
            <a:pPr algn="l">
              <a:spcAft>
                <a:spcPts val="600"/>
              </a:spcAft>
            </a:pPr>
            <a:r>
              <a:rPr sz="1000" b="0">
                <a:solidFill>
                  <a:srgbClr val="B8C2D0"/>
                </a:solidFill>
                <a:latin typeface="Calibri"/>
              </a:rPr>
              <a:t>Independent portfolio project - not affiliated with NBCUniversal. Sources: OzTAM VOZ, Netflix Top 10, Nielsen, TMDB/JustWatch.</a:t>
            </a:r>
          </a:p>
        </p:txBody>
      </p:sp>
      <p:sp>
        <p:nvSpPr>
          <p:cNvPr id="4" name="Rounded Rectangle 3"/>
          <p:cNvSpPr/>
          <p:nvPr/>
        </p:nvSpPr>
        <p:spPr>
          <a:xfrm>
            <a:off x="548640" y="1828800"/>
            <a:ext cx="3474720" cy="4206240"/>
          </a:xfrm>
          <a:prstGeom prst="roundRect">
            <a:avLst>
              <a:gd name="adj" fmla="val 8000"/>
            </a:avLst>
          </a:prstGeom>
          <a:solidFill>
            <a:srgbClr val="26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103120"/>
            <a:ext cx="457200" cy="45720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822959" y="2743200"/>
            <a:ext cx="2926080" cy="914400"/>
          </a:xfrm>
          <a:prstGeom prst="rect">
            <a:avLst/>
          </a:prstGeom>
          <a:noFill/>
        </p:spPr>
        <p:txBody>
          <a:bodyPr wrap="square" anchor="t" lIns="0" rIns="0">
            <a:spAutoFit/>
          </a:bodyPr>
          <a:lstStyle/>
          <a:p>
            <a:pPr algn="l">
              <a:spcAft>
                <a:spcPts val="600"/>
              </a:spcAft>
            </a:pPr>
            <a:r>
              <a:rPr sz="2000" b="1">
                <a:solidFill>
                  <a:srgbClr val="FFFFFF"/>
                </a:solidFill>
                <a:latin typeface="Cambria"/>
              </a:rPr>
              <a:t>Free TV: lead with crime procedurals</a:t>
            </a:r>
          </a:p>
        </p:txBody>
      </p:sp>
      <p:sp>
        <p:nvSpPr>
          <p:cNvPr id="7" name="TextBox 6"/>
          <p:cNvSpPr txBox="1"/>
          <p:nvPr/>
        </p:nvSpPr>
        <p:spPr>
          <a:xfrm>
            <a:off x="822959" y="3749039"/>
            <a:ext cx="2926080" cy="2194560"/>
          </a:xfrm>
          <a:prstGeom prst="rect">
            <a:avLst/>
          </a:prstGeom>
          <a:noFill/>
        </p:spPr>
        <p:txBody>
          <a:bodyPr wrap="square" anchor="t" lIns="0" rIns="0">
            <a:spAutoFit/>
          </a:bodyPr>
          <a:lstStyle/>
          <a:p>
            <a:pPr algn="l">
              <a:spcAft>
                <a:spcPts val="600"/>
              </a:spcAft>
            </a:pPr>
            <a:r>
              <a:rPr sz="1500" b="0">
                <a:solidFill>
                  <a:srgbClr val="DDE3EA"/>
                </a:solidFill>
                <a:latin typeface="Calibri"/>
              </a:rPr>
              <a:t>US scripted series score 343 on free-to-air; US films score 9. Re-pitch Law &amp; Order, La Brea and All Her Fault to the networks at renewal.</a:t>
            </a:r>
          </a:p>
        </p:txBody>
      </p:sp>
      <p:sp>
        <p:nvSpPr>
          <p:cNvPr id="8" name="Rounded Rectangle 7"/>
          <p:cNvSpPr/>
          <p:nvPr/>
        </p:nvSpPr>
        <p:spPr>
          <a:xfrm>
            <a:off x="4297679" y="1828800"/>
            <a:ext cx="3474720" cy="4206240"/>
          </a:xfrm>
          <a:prstGeom prst="roundRect">
            <a:avLst>
              <a:gd name="adj" fmla="val 8000"/>
            </a:avLst>
          </a:prstGeom>
          <a:solidFill>
            <a:srgbClr val="26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71999" y="2103120"/>
            <a:ext cx="457200" cy="45720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4571999" y="2743200"/>
            <a:ext cx="2926080" cy="914400"/>
          </a:xfrm>
          <a:prstGeom prst="rect">
            <a:avLst/>
          </a:prstGeom>
          <a:noFill/>
        </p:spPr>
        <p:txBody>
          <a:bodyPr wrap="square" anchor="t" lIns="0" rIns="0">
            <a:spAutoFit/>
          </a:bodyPr>
          <a:lstStyle/>
          <a:p>
            <a:pPr algn="l">
              <a:spcAft>
                <a:spcPts val="600"/>
              </a:spcAft>
            </a:pPr>
            <a:r>
              <a:rPr sz="2000" b="1">
                <a:solidFill>
                  <a:srgbClr val="FFFFFF"/>
                </a:solidFill>
                <a:latin typeface="Cambria"/>
              </a:rPr>
              <a:t>Paid streamers: film, family, true crime</a:t>
            </a:r>
          </a:p>
        </p:txBody>
      </p:sp>
      <p:sp>
        <p:nvSpPr>
          <p:cNvPr id="11" name="TextBox 10"/>
          <p:cNvSpPr txBox="1"/>
          <p:nvPr/>
        </p:nvSpPr>
        <p:spPr>
          <a:xfrm>
            <a:off x="4571999" y="3749039"/>
            <a:ext cx="2926080" cy="2194560"/>
          </a:xfrm>
          <a:prstGeom prst="rect">
            <a:avLst/>
          </a:prstGeom>
          <a:noFill/>
        </p:spPr>
        <p:txBody>
          <a:bodyPr wrap="square" anchor="t" lIns="0" rIns="0">
            <a:spAutoFit/>
          </a:bodyPr>
          <a:lstStyle/>
          <a:p>
            <a:pPr algn="l">
              <a:spcAft>
                <a:spcPts val="600"/>
              </a:spcAft>
            </a:pPr>
            <a:r>
              <a:rPr sz="1500" b="0">
                <a:solidFill>
                  <a:srgbClr val="DDE3EA"/>
                </a:solidFill>
                <a:latin typeface="Calibri"/>
              </a:rPr>
              <a:t>Documentary (138) and animated film (115) over-index. Start with The Super Mario Galaxy Movie and Homicide Squad New Orleans.</a:t>
            </a:r>
          </a:p>
        </p:txBody>
      </p:sp>
      <p:sp>
        <p:nvSpPr>
          <p:cNvPr id="12" name="Rounded Rectangle 11"/>
          <p:cNvSpPr/>
          <p:nvPr/>
        </p:nvSpPr>
        <p:spPr>
          <a:xfrm>
            <a:off x="8046719" y="1828800"/>
            <a:ext cx="3474720" cy="4206240"/>
          </a:xfrm>
          <a:prstGeom prst="roundRect">
            <a:avLst>
              <a:gd name="adj" fmla="val 8000"/>
            </a:avLst>
          </a:prstGeom>
          <a:solidFill>
            <a:srgbClr val="26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21040" y="2103120"/>
            <a:ext cx="457200" cy="45720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4" name="TextBox 13"/>
          <p:cNvSpPr txBox="1"/>
          <p:nvPr/>
        </p:nvSpPr>
        <p:spPr>
          <a:xfrm>
            <a:off x="8321040" y="2743200"/>
            <a:ext cx="2926080" cy="914400"/>
          </a:xfrm>
          <a:prstGeom prst="rect">
            <a:avLst/>
          </a:prstGeom>
          <a:noFill/>
        </p:spPr>
        <p:txBody>
          <a:bodyPr wrap="square" anchor="t" lIns="0" rIns="0">
            <a:spAutoFit/>
          </a:bodyPr>
          <a:lstStyle/>
          <a:p>
            <a:pPr algn="l">
              <a:spcAft>
                <a:spcPts val="600"/>
              </a:spcAft>
            </a:pPr>
            <a:r>
              <a:rPr sz="2000" b="1">
                <a:solidFill>
                  <a:srgbClr val="FFFFFF"/>
                </a:solidFill>
                <a:latin typeface="Cambria"/>
              </a:rPr>
              <a:t>Back licensed titles with marketing</a:t>
            </a:r>
          </a:p>
        </p:txBody>
      </p:sp>
      <p:sp>
        <p:nvSpPr>
          <p:cNvPr id="15" name="TextBox 14"/>
          <p:cNvSpPr txBox="1"/>
          <p:nvPr/>
        </p:nvSpPr>
        <p:spPr>
          <a:xfrm>
            <a:off x="8321040" y="3749039"/>
            <a:ext cx="2926080" cy="2194560"/>
          </a:xfrm>
          <a:prstGeom prst="rect">
            <a:avLst/>
          </a:prstGeom>
          <a:noFill/>
        </p:spPr>
        <p:txBody>
          <a:bodyPr wrap="square" anchor="t" lIns="0" rIns="0">
            <a:spAutoFit/>
          </a:bodyPr>
          <a:lstStyle/>
          <a:p>
            <a:pPr algn="l">
              <a:spcAft>
                <a:spcPts val="600"/>
              </a:spcAft>
            </a:pPr>
            <a:r>
              <a:rPr sz="1500" b="0">
                <a:solidFill>
                  <a:srgbClr val="DDE3EA"/>
                </a:solidFill>
                <a:latin typeface="Calibri"/>
              </a:rPr>
              <a:t>Only 28% of licensed US hits chart in Australia vs 91% of Netflix originals. 30 NBCU titles are licensed here but never chart.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1005840"/>
          </a:xfrm>
          <a:prstGeom prst="rect">
            <a:avLst/>
          </a:prstGeom>
          <a:noFill/>
        </p:spPr>
        <p:txBody>
          <a:bodyPr wrap="square" anchor="t" lIns="0" rIns="0">
            <a:spAutoFit/>
          </a:bodyPr>
          <a:lstStyle/>
          <a:p>
            <a:pPr algn="l">
              <a:spcAft>
                <a:spcPts val="600"/>
              </a:spcAft>
            </a:pPr>
            <a:r>
              <a:rPr sz="2800" b="1">
                <a:solidFill>
                  <a:srgbClr val="1B2A41"/>
                </a:solidFill>
                <a:latin typeface="Cambria"/>
              </a:rPr>
              <a:t>Free TV buys US crime procedurals, and almost nothing else</a:t>
            </a:r>
          </a:p>
        </p:txBody>
      </p:sp>
      <p:sp>
        <p:nvSpPr>
          <p:cNvPr id="3" name="TextBox 2"/>
          <p:cNvSpPr txBox="1"/>
          <p:nvPr/>
        </p:nvSpPr>
        <p:spPr>
          <a:xfrm>
            <a:off x="548640" y="6400800"/>
            <a:ext cx="11064240" cy="274320"/>
          </a:xfrm>
          <a:prstGeom prst="rect">
            <a:avLst/>
          </a:prstGeom>
          <a:noFill/>
        </p:spPr>
        <p:txBody>
          <a:bodyPr wrap="square" anchor="t" lIns="0" rIns="0">
            <a:spAutoFit/>
          </a:bodyPr>
          <a:lstStyle/>
          <a:p>
            <a:pPr algn="l">
              <a:spcAft>
                <a:spcPts val="600"/>
              </a:spcAft>
            </a:pPr>
            <a:r>
              <a:rPr sz="1000" b="0">
                <a:solidFill>
                  <a:srgbClr val="5B6B82"/>
                </a:solidFill>
                <a:latin typeface="Calibri"/>
              </a:rPr>
              <a:t>Independent portfolio project - not affiliated with NBCUniversal. Sources: OzTAM VOZ, Netflix Top 10, Nielsen, TMDB/JustWatch.</a:t>
            </a:r>
          </a:p>
        </p:txBody>
      </p:sp>
      <p:sp>
        <p:nvSpPr>
          <p:cNvPr id="4" name="TextBox 3"/>
          <p:cNvSpPr txBox="1"/>
          <p:nvPr/>
        </p:nvSpPr>
        <p:spPr>
          <a:xfrm>
            <a:off x="548640" y="1463040"/>
            <a:ext cx="3840480" cy="822960"/>
          </a:xfrm>
          <a:prstGeom prst="rect">
            <a:avLst/>
          </a:prstGeom>
          <a:noFill/>
        </p:spPr>
        <p:txBody>
          <a:bodyPr wrap="square" anchor="t" lIns="0" rIns="0">
            <a:spAutoFit/>
          </a:bodyPr>
          <a:lstStyle/>
          <a:p>
            <a:pPr algn="l">
              <a:spcAft>
                <a:spcPts val="600"/>
              </a:spcAft>
            </a:pPr>
            <a:r>
              <a:rPr sz="4800" b="1">
                <a:solidFill>
                  <a:srgbClr val="E4572E"/>
                </a:solidFill>
                <a:latin typeface="Cambria"/>
              </a:rPr>
              <a:t>2.6%</a:t>
            </a:r>
          </a:p>
        </p:txBody>
      </p:sp>
      <p:sp>
        <p:nvSpPr>
          <p:cNvPr id="5" name="TextBox 4"/>
          <p:cNvSpPr txBox="1"/>
          <p:nvPr/>
        </p:nvSpPr>
        <p:spPr>
          <a:xfrm>
            <a:off x="548640" y="2286000"/>
            <a:ext cx="3840480" cy="640080"/>
          </a:xfrm>
          <a:prstGeom prst="rect">
            <a:avLst/>
          </a:prstGeom>
          <a:noFill/>
        </p:spPr>
        <p:txBody>
          <a:bodyPr wrap="square" anchor="t" lIns="0" rIns="0">
            <a:spAutoFit/>
          </a:bodyPr>
          <a:lstStyle/>
          <a:p>
            <a:pPr algn="l">
              <a:spcAft>
                <a:spcPts val="600"/>
              </a:spcAft>
            </a:pPr>
            <a:r>
              <a:rPr sz="1400" b="0">
                <a:solidFill>
                  <a:srgbClr val="5B6B82"/>
                </a:solidFill>
                <a:latin typeface="Calibri"/>
              </a:rPr>
              <a:t>of free-to-air Top 30 slots go to US-made content</a:t>
            </a:r>
          </a:p>
        </p:txBody>
      </p:sp>
      <p:sp>
        <p:nvSpPr>
          <p:cNvPr id="6" name="TextBox 5"/>
          <p:cNvSpPr txBox="1"/>
          <p:nvPr/>
        </p:nvSpPr>
        <p:spPr>
          <a:xfrm>
            <a:off x="548640" y="3063240"/>
            <a:ext cx="3840480" cy="822960"/>
          </a:xfrm>
          <a:prstGeom prst="rect">
            <a:avLst/>
          </a:prstGeom>
          <a:noFill/>
        </p:spPr>
        <p:txBody>
          <a:bodyPr wrap="square" anchor="t" lIns="0" rIns="0">
            <a:spAutoFit/>
          </a:bodyPr>
          <a:lstStyle/>
          <a:p>
            <a:pPr algn="l">
              <a:spcAft>
                <a:spcPts val="600"/>
              </a:spcAft>
            </a:pPr>
            <a:r>
              <a:rPr sz="4800" b="1">
                <a:solidFill>
                  <a:srgbClr val="E4572E"/>
                </a:solidFill>
                <a:latin typeface="Cambria"/>
              </a:rPr>
              <a:t>5.4%</a:t>
            </a:r>
          </a:p>
        </p:txBody>
      </p:sp>
      <p:sp>
        <p:nvSpPr>
          <p:cNvPr id="7" name="TextBox 6"/>
          <p:cNvSpPr txBox="1"/>
          <p:nvPr/>
        </p:nvSpPr>
        <p:spPr>
          <a:xfrm>
            <a:off x="548640" y="3886200"/>
            <a:ext cx="3840480" cy="640080"/>
          </a:xfrm>
          <a:prstGeom prst="rect">
            <a:avLst/>
          </a:prstGeom>
          <a:noFill/>
        </p:spPr>
        <p:txBody>
          <a:bodyPr wrap="square" anchor="t" lIns="0" rIns="0">
            <a:spAutoFit/>
          </a:bodyPr>
          <a:lstStyle/>
          <a:p>
            <a:pPr algn="l">
              <a:spcAft>
                <a:spcPts val="600"/>
              </a:spcAft>
            </a:pPr>
            <a:r>
              <a:rPr sz="1400" b="0">
                <a:solidFill>
                  <a:srgbClr val="5B6B82"/>
                </a:solidFill>
                <a:latin typeface="Calibri"/>
              </a:rPr>
              <a:t>on the free streaming apps, twice the broadcast share</a:t>
            </a:r>
          </a:p>
        </p:txBody>
      </p:sp>
      <p:sp>
        <p:nvSpPr>
          <p:cNvPr id="8" name="TextBox 7"/>
          <p:cNvSpPr txBox="1"/>
          <p:nvPr/>
        </p:nvSpPr>
        <p:spPr>
          <a:xfrm>
            <a:off x="548640" y="4663440"/>
            <a:ext cx="3840480" cy="822960"/>
          </a:xfrm>
          <a:prstGeom prst="rect">
            <a:avLst/>
          </a:prstGeom>
          <a:noFill/>
        </p:spPr>
        <p:txBody>
          <a:bodyPr wrap="square" anchor="t" lIns="0" rIns="0">
            <a:spAutoFit/>
          </a:bodyPr>
          <a:lstStyle/>
          <a:p>
            <a:pPr algn="l">
              <a:spcAft>
                <a:spcPts val="600"/>
              </a:spcAft>
            </a:pPr>
            <a:r>
              <a:rPr sz="4800" b="1">
                <a:solidFill>
                  <a:srgbClr val="E4572E"/>
                </a:solidFill>
                <a:latin typeface="Cambria"/>
              </a:rPr>
              <a:t>49%</a:t>
            </a:r>
          </a:p>
        </p:txBody>
      </p:sp>
      <p:sp>
        <p:nvSpPr>
          <p:cNvPr id="9" name="TextBox 8"/>
          <p:cNvSpPr txBox="1"/>
          <p:nvPr/>
        </p:nvSpPr>
        <p:spPr>
          <a:xfrm>
            <a:off x="548640" y="5486400"/>
            <a:ext cx="3840480" cy="640080"/>
          </a:xfrm>
          <a:prstGeom prst="rect">
            <a:avLst/>
          </a:prstGeom>
          <a:noFill/>
        </p:spPr>
        <p:txBody>
          <a:bodyPr wrap="square" anchor="t" lIns="0" rIns="0">
            <a:spAutoFit/>
          </a:bodyPr>
          <a:lstStyle/>
          <a:p>
            <a:pPr algn="l">
              <a:spcAft>
                <a:spcPts val="600"/>
              </a:spcAft>
            </a:pPr>
            <a:r>
              <a:rPr sz="1400" b="0">
                <a:solidFill>
                  <a:srgbClr val="5B6B82"/>
                </a:solidFill>
                <a:latin typeface="Calibri"/>
              </a:rPr>
              <a:t>of free-to-air slots are news, sport and live events</a:t>
            </a:r>
          </a:p>
        </p:txBody>
      </p:sp>
      <p:graphicFrame>
        <p:nvGraphicFramePr>
          <p:cNvPr id="10" name="Chart 9"/>
          <p:cNvGraphicFramePr>
            <a:graphicFrameLocks noGrp="1"/>
          </p:cNvGraphicFramePr>
          <p:nvPr/>
        </p:nvGraphicFramePr>
        <p:xfrm>
          <a:off x="4846320" y="1371600"/>
          <a:ext cx="6766560" cy="3291840"/>
        </p:xfrm>
        <a:graphic>
          <a:graphicData uri="http://schemas.openxmlformats.org/drawingml/2006/chart">
            <c:chart xmlns:c="http://schemas.openxmlformats.org/drawingml/2006/chart" r:id="rId2"/>
          </a:graphicData>
        </a:graphic>
      </p:graphicFrame>
      <p:sp>
        <p:nvSpPr>
          <p:cNvPr id="11" name="Rounded Rectangle 10"/>
          <p:cNvSpPr/>
          <p:nvPr/>
        </p:nvSpPr>
        <p:spPr>
          <a:xfrm>
            <a:off x="4846320" y="4892040"/>
            <a:ext cx="6766560" cy="1280160"/>
          </a:xfrm>
          <a:prstGeom prst="roundRect">
            <a:avLst>
              <a:gd name="adj" fmla="val 8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5029200"/>
            <a:ext cx="6309360" cy="1097280"/>
          </a:xfrm>
          <a:prstGeom prst="rect">
            <a:avLst/>
          </a:prstGeom>
          <a:noFill/>
        </p:spPr>
        <p:txBody>
          <a:bodyPr wrap="square" anchor="t" lIns="0" rIns="0">
            <a:spAutoFit/>
          </a:bodyPr>
          <a:lstStyle/>
          <a:p>
            <a:pPr algn="l">
              <a:spcAft>
                <a:spcPts val="600"/>
              </a:spcAft>
            </a:pPr>
            <a:r>
              <a:rPr sz="1400" b="1">
                <a:solidFill>
                  <a:srgbClr val="1B2A41"/>
                </a:solidFill>
                <a:latin typeface="Calibri"/>
              </a:rPr>
              <a:t>What charts:</a:t>
            </a:r>
          </a:p>
          <a:p>
            <a:pPr algn="l">
              <a:spcAft>
                <a:spcPts val="600"/>
              </a:spcAft>
            </a:pPr>
            <a:r>
              <a:rPr sz="1400" b="0">
                <a:solidFill>
                  <a:srgbClr val="1A1A1A"/>
                </a:solidFill>
                <a:latin typeface="Calibri"/>
              </a:rPr>
              <a:t>The Rookie, 9-1-1, Murder in a Small Town, The Hunting Wives - all US crime/procedural series on Seven and 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1005840"/>
          </a:xfrm>
          <a:prstGeom prst="rect">
            <a:avLst/>
          </a:prstGeom>
          <a:noFill/>
        </p:spPr>
        <p:txBody>
          <a:bodyPr wrap="square" anchor="t" lIns="0" rIns="0">
            <a:spAutoFit/>
          </a:bodyPr>
          <a:lstStyle/>
          <a:p>
            <a:pPr algn="l">
              <a:spcAft>
                <a:spcPts val="600"/>
              </a:spcAft>
            </a:pPr>
            <a:r>
              <a:rPr sz="2800" b="1">
                <a:solidFill>
                  <a:srgbClr val="1B2A41"/>
                </a:solidFill>
                <a:latin typeface="Cambria"/>
              </a:rPr>
              <a:t>On paid streaming, a US hit is not enough: licensed titles rarely travel</a:t>
            </a:r>
          </a:p>
        </p:txBody>
      </p:sp>
      <p:sp>
        <p:nvSpPr>
          <p:cNvPr id="3" name="TextBox 2"/>
          <p:cNvSpPr txBox="1"/>
          <p:nvPr/>
        </p:nvSpPr>
        <p:spPr>
          <a:xfrm>
            <a:off x="548640" y="6400800"/>
            <a:ext cx="11064240" cy="274320"/>
          </a:xfrm>
          <a:prstGeom prst="rect">
            <a:avLst/>
          </a:prstGeom>
          <a:noFill/>
        </p:spPr>
        <p:txBody>
          <a:bodyPr wrap="square" anchor="t" lIns="0" rIns="0">
            <a:spAutoFit/>
          </a:bodyPr>
          <a:lstStyle/>
          <a:p>
            <a:pPr algn="l">
              <a:spcAft>
                <a:spcPts val="600"/>
              </a:spcAft>
            </a:pPr>
            <a:r>
              <a:rPr sz="1000" b="0">
                <a:solidFill>
                  <a:srgbClr val="5B6B82"/>
                </a:solidFill>
                <a:latin typeface="Calibri"/>
              </a:rPr>
              <a:t>Independent portfolio project - not affiliated with NBCUniversal. Sources: OzTAM VOZ, Netflix Top 10, Nielsen, TMDB/JustWatch.</a:t>
            </a:r>
          </a:p>
        </p:txBody>
      </p:sp>
      <p:sp>
        <p:nvSpPr>
          <p:cNvPr id="4" name="Rounded Rectangle 3"/>
          <p:cNvSpPr/>
          <p:nvPr/>
        </p:nvSpPr>
        <p:spPr>
          <a:xfrm>
            <a:off x="548640" y="1463040"/>
            <a:ext cx="2560320" cy="2377440"/>
          </a:xfrm>
          <a:prstGeom prst="roundRect">
            <a:avLst>
              <a:gd name="adj" fmla="val 8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2194560" cy="914400"/>
          </a:xfrm>
          <a:prstGeom prst="rect">
            <a:avLst/>
          </a:prstGeom>
          <a:noFill/>
        </p:spPr>
        <p:txBody>
          <a:bodyPr wrap="square" anchor="t" lIns="0" rIns="0">
            <a:spAutoFit/>
          </a:bodyPr>
          <a:lstStyle/>
          <a:p>
            <a:pPr algn="l">
              <a:spcAft>
                <a:spcPts val="600"/>
              </a:spcAft>
            </a:pPr>
            <a:r>
              <a:rPr sz="5400" b="1">
                <a:solidFill>
                  <a:srgbClr val="5B6B82"/>
                </a:solidFill>
                <a:latin typeface="Cambria"/>
              </a:rPr>
              <a:t>91%</a:t>
            </a:r>
          </a:p>
        </p:txBody>
      </p:sp>
      <p:sp>
        <p:nvSpPr>
          <p:cNvPr id="6" name="TextBox 5"/>
          <p:cNvSpPr txBox="1"/>
          <p:nvPr/>
        </p:nvSpPr>
        <p:spPr>
          <a:xfrm>
            <a:off x="731520" y="2651760"/>
            <a:ext cx="2194560" cy="1097280"/>
          </a:xfrm>
          <a:prstGeom prst="rect">
            <a:avLst/>
          </a:prstGeom>
          <a:noFill/>
        </p:spPr>
        <p:txBody>
          <a:bodyPr wrap="square" anchor="t" lIns="0" rIns="0">
            <a:spAutoFit/>
          </a:bodyPr>
          <a:lstStyle/>
          <a:p>
            <a:pPr algn="l">
              <a:spcAft>
                <a:spcPts val="600"/>
              </a:spcAft>
            </a:pPr>
            <a:r>
              <a:rPr sz="1400" b="0">
                <a:solidFill>
                  <a:srgbClr val="1A1A1A"/>
                </a:solidFill>
                <a:latin typeface="Calibri"/>
              </a:rPr>
              <a:t>of Netflix originals that hit in the US also chart in Australia</a:t>
            </a:r>
          </a:p>
        </p:txBody>
      </p:sp>
      <p:sp>
        <p:nvSpPr>
          <p:cNvPr id="7" name="Rounded Rectangle 6"/>
          <p:cNvSpPr/>
          <p:nvPr/>
        </p:nvSpPr>
        <p:spPr>
          <a:xfrm>
            <a:off x="3291840" y="1463040"/>
            <a:ext cx="2560320" cy="2377440"/>
          </a:xfrm>
          <a:prstGeom prst="roundRect">
            <a:avLst>
              <a:gd name="adj" fmla="val 8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1645920"/>
            <a:ext cx="2194560" cy="914400"/>
          </a:xfrm>
          <a:prstGeom prst="rect">
            <a:avLst/>
          </a:prstGeom>
          <a:noFill/>
        </p:spPr>
        <p:txBody>
          <a:bodyPr wrap="square" anchor="t" lIns="0" rIns="0">
            <a:spAutoFit/>
          </a:bodyPr>
          <a:lstStyle/>
          <a:p>
            <a:pPr algn="l">
              <a:spcAft>
                <a:spcPts val="600"/>
              </a:spcAft>
            </a:pPr>
            <a:r>
              <a:rPr sz="5400" b="1">
                <a:solidFill>
                  <a:srgbClr val="E4572E"/>
                </a:solidFill>
                <a:latin typeface="Cambria"/>
              </a:rPr>
              <a:t>28%</a:t>
            </a:r>
          </a:p>
        </p:txBody>
      </p:sp>
      <p:sp>
        <p:nvSpPr>
          <p:cNvPr id="9" name="TextBox 8"/>
          <p:cNvSpPr txBox="1"/>
          <p:nvPr/>
        </p:nvSpPr>
        <p:spPr>
          <a:xfrm>
            <a:off x="3474720" y="2651760"/>
            <a:ext cx="2194560" cy="1097280"/>
          </a:xfrm>
          <a:prstGeom prst="rect">
            <a:avLst/>
          </a:prstGeom>
          <a:noFill/>
        </p:spPr>
        <p:txBody>
          <a:bodyPr wrap="square" anchor="t" lIns="0" rIns="0">
            <a:spAutoFit/>
          </a:bodyPr>
          <a:lstStyle/>
          <a:p>
            <a:pPr algn="l">
              <a:spcAft>
                <a:spcPts val="600"/>
              </a:spcAft>
            </a:pPr>
            <a:r>
              <a:rPr sz="1400" b="0">
                <a:solidFill>
                  <a:srgbClr val="1A1A1A"/>
                </a:solidFill>
                <a:latin typeface="Calibri"/>
              </a:rPr>
              <a:t>of LICENSED US hits do: the titles a distributor actually sells</a:t>
            </a:r>
          </a:p>
        </p:txBody>
      </p:sp>
      <p:sp>
        <p:nvSpPr>
          <p:cNvPr id="10" name="TextBox 9"/>
          <p:cNvSpPr txBox="1"/>
          <p:nvPr/>
        </p:nvSpPr>
        <p:spPr>
          <a:xfrm>
            <a:off x="548640" y="4114800"/>
            <a:ext cx="5303520" cy="2011680"/>
          </a:xfrm>
          <a:prstGeom prst="rect">
            <a:avLst/>
          </a:prstGeom>
          <a:noFill/>
        </p:spPr>
        <p:txBody>
          <a:bodyPr wrap="square" anchor="t" lIns="0" rIns="0">
            <a:spAutoFit/>
          </a:bodyPr>
          <a:lstStyle/>
          <a:p>
            <a:pPr algn="l">
              <a:spcAft>
                <a:spcPts val="600"/>
              </a:spcAft>
            </a:pPr>
            <a:r>
              <a:rPr sz="1600" b="1">
                <a:solidFill>
                  <a:srgbClr val="1B2A41"/>
                </a:solidFill>
                <a:latin typeface="Calibri"/>
              </a:rPr>
              <a:t>Why it matters</a:t>
            </a:r>
          </a:p>
          <a:p>
            <a:pPr algn="l">
              <a:spcAft>
                <a:spcPts val="600"/>
              </a:spcAft>
            </a:pPr>
            <a:r>
              <a:rPr sz="1400" b="0">
                <a:solidFill>
                  <a:srgbClr val="1A1A1A"/>
                </a:solidFill>
                <a:latin typeface="Calibri"/>
              </a:rPr>
              <a:t>Netflix originals launch worldwide on the same day. Licensed shows need a local deal, a local home and local promotion to break through.</a:t>
            </a:r>
          </a:p>
          <a:p>
            <a:pPr algn="l">
              <a:spcAft>
                <a:spcPts val="600"/>
              </a:spcAft>
            </a:pPr>
            <a:r>
              <a:rPr sz="1400" b="1">
                <a:solidFill>
                  <a:srgbClr val="E4572E"/>
                </a:solidFill>
                <a:latin typeface="Calibri"/>
              </a:rPr>
              <a:t>NBCU: 18 of 52 US chart hits also charted in Australia.</a:t>
            </a:r>
          </a:p>
        </p:txBody>
      </p:sp>
      <p:graphicFrame>
        <p:nvGraphicFramePr>
          <p:cNvPr id="11" name="Chart 10"/>
          <p:cNvGraphicFramePr>
            <a:graphicFrameLocks noGrp="1"/>
          </p:cNvGraphicFramePr>
          <p:nvPr/>
        </p:nvGraphicFramePr>
        <p:xfrm>
          <a:off x="6217920" y="1371600"/>
          <a:ext cx="5394960" cy="475488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1005840"/>
          </a:xfrm>
          <a:prstGeom prst="rect">
            <a:avLst/>
          </a:prstGeom>
          <a:noFill/>
        </p:spPr>
        <p:txBody>
          <a:bodyPr wrap="square" anchor="t" lIns="0" rIns="0">
            <a:spAutoFit/>
          </a:bodyPr>
          <a:lstStyle/>
          <a:p>
            <a:pPr algn="l">
              <a:spcAft>
                <a:spcPts val="600"/>
              </a:spcAft>
            </a:pPr>
            <a:r>
              <a:rPr sz="2800" b="1">
                <a:solidFill>
                  <a:srgbClr val="1B2A41"/>
                </a:solidFill>
                <a:latin typeface="Cambria"/>
              </a:rPr>
              <a:t>Paid streamers over-index on horror, comedy, documentary and family; drama and reality lag</a:t>
            </a:r>
          </a:p>
        </p:txBody>
      </p:sp>
      <p:sp>
        <p:nvSpPr>
          <p:cNvPr id="3" name="TextBox 2"/>
          <p:cNvSpPr txBox="1"/>
          <p:nvPr/>
        </p:nvSpPr>
        <p:spPr>
          <a:xfrm>
            <a:off x="548640" y="6400800"/>
            <a:ext cx="11064240" cy="274320"/>
          </a:xfrm>
          <a:prstGeom prst="rect">
            <a:avLst/>
          </a:prstGeom>
          <a:noFill/>
        </p:spPr>
        <p:txBody>
          <a:bodyPr wrap="square" anchor="t" lIns="0" rIns="0">
            <a:spAutoFit/>
          </a:bodyPr>
          <a:lstStyle/>
          <a:p>
            <a:pPr algn="l">
              <a:spcAft>
                <a:spcPts val="600"/>
              </a:spcAft>
            </a:pPr>
            <a:r>
              <a:rPr sz="1000" b="0">
                <a:solidFill>
                  <a:srgbClr val="5B6B82"/>
                </a:solidFill>
                <a:latin typeface="Calibri"/>
              </a:rPr>
              <a:t>Independent portfolio project - not affiliated with NBCUniversal. Sources: OzTAM VOZ, Netflix Top 10, Nielsen, TMDB/JustWatch.</a:t>
            </a:r>
          </a:p>
        </p:txBody>
      </p:sp>
      <p:graphicFrame>
        <p:nvGraphicFramePr>
          <p:cNvPr id="4" name="Chart 3"/>
          <p:cNvGraphicFramePr>
            <a:graphicFrameLocks noGrp="1"/>
          </p:cNvGraphicFramePr>
          <p:nvPr/>
        </p:nvGraphicFramePr>
        <p:xfrm>
          <a:off x="548640" y="1371600"/>
          <a:ext cx="6949440" cy="4846320"/>
        </p:xfrm>
        <a:graphic>
          <a:graphicData uri="http://schemas.openxmlformats.org/drawingml/2006/chart">
            <c:chart xmlns:c="http://schemas.openxmlformats.org/drawingml/2006/chart" r:id="rId2"/>
          </a:graphicData>
        </a:graphic>
      </p:graphicFrame>
      <p:sp>
        <p:nvSpPr>
          <p:cNvPr id="5" name="Rounded Rectangle 4"/>
          <p:cNvSpPr/>
          <p:nvPr/>
        </p:nvSpPr>
        <p:spPr>
          <a:xfrm>
            <a:off x="7863840" y="1463040"/>
            <a:ext cx="3749039" cy="4663440"/>
          </a:xfrm>
          <a:prstGeom prst="roundRect">
            <a:avLst>
              <a:gd name="adj" fmla="val 8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1645920"/>
            <a:ext cx="3291840" cy="4389120"/>
          </a:xfrm>
          <a:prstGeom prst="rect">
            <a:avLst/>
          </a:prstGeom>
          <a:noFill/>
        </p:spPr>
        <p:txBody>
          <a:bodyPr wrap="square" anchor="t" lIns="0" rIns="0">
            <a:spAutoFit/>
          </a:bodyPr>
          <a:lstStyle/>
          <a:p>
            <a:pPr algn="l">
              <a:spcAft>
                <a:spcPts val="600"/>
              </a:spcAft>
            </a:pPr>
            <a:r>
              <a:rPr sz="1600" b="1">
                <a:solidFill>
                  <a:srgbClr val="1B2A41"/>
                </a:solidFill>
                <a:latin typeface="Calibri"/>
              </a:rPr>
              <a:t>How to read it</a:t>
            </a:r>
          </a:p>
          <a:p>
            <a:pPr algn="l">
              <a:spcAft>
                <a:spcPts val="600"/>
              </a:spcAft>
            </a:pPr>
            <a:r>
              <a:rPr sz="1400" b="0">
                <a:solidFill>
                  <a:srgbClr val="1A1A1A"/>
                </a:solidFill>
                <a:latin typeface="Calibri"/>
              </a:rPr>
              <a:t>Each chart position is turned into a rank percentile, so Nielsen minutes and Australian viewer counts are never compared directly.</a:t>
            </a:r>
          </a:p>
          <a:p>
            <a:pPr algn="l">
              <a:spcAft>
                <a:spcPts val="600"/>
              </a:spcAft>
            </a:pPr>
            <a:r>
              <a:rPr sz="1400" b="0">
                <a:solidFill>
                  <a:srgbClr val="1A1A1A"/>
                </a:solidFill>
                <a:latin typeface="Calibri"/>
              </a:rPr>
              <a:t>A score of 134 means that genre wins 34% more of Australia's US-content chart space than its share of US charts.</a:t>
            </a:r>
          </a:p>
          <a:p>
            <a:pPr algn="l">
              <a:spcAft>
                <a:spcPts val="600"/>
              </a:spcAft>
            </a:pPr>
            <a:r>
              <a:rPr sz="1400" b="1">
                <a:solidFill>
                  <a:srgbClr val="E4572E"/>
                </a:solidFill>
                <a:latin typeface="Calibri"/>
              </a:rPr>
              <a:t>Pitch: horror, comedy, documentary and family films. Sell reality as a format to remake locally instead.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1005840"/>
          </a:xfrm>
          <a:prstGeom prst="rect">
            <a:avLst/>
          </a:prstGeom>
          <a:noFill/>
        </p:spPr>
        <p:txBody>
          <a:bodyPr wrap="square" anchor="t" lIns="0" rIns="0">
            <a:spAutoFit/>
          </a:bodyPr>
          <a:lstStyle/>
          <a:p>
            <a:pPr algn="l">
              <a:spcAft>
                <a:spcPts val="600"/>
              </a:spcAft>
            </a:pPr>
            <a:r>
              <a:rPr sz="2800" b="1">
                <a:solidFill>
                  <a:srgbClr val="1B2A41"/>
                </a:solidFill>
                <a:latin typeface="Cambria"/>
              </a:rPr>
              <a:t>What to sell next: NBCU titles proven in the US with no Australian home</a:t>
            </a:r>
          </a:p>
        </p:txBody>
      </p:sp>
      <p:sp>
        <p:nvSpPr>
          <p:cNvPr id="3" name="TextBox 2"/>
          <p:cNvSpPr txBox="1"/>
          <p:nvPr/>
        </p:nvSpPr>
        <p:spPr>
          <a:xfrm>
            <a:off x="548640" y="6400800"/>
            <a:ext cx="11064240" cy="274320"/>
          </a:xfrm>
          <a:prstGeom prst="rect">
            <a:avLst/>
          </a:prstGeom>
          <a:noFill/>
        </p:spPr>
        <p:txBody>
          <a:bodyPr wrap="square" anchor="t" lIns="0" rIns="0">
            <a:spAutoFit/>
          </a:bodyPr>
          <a:lstStyle/>
          <a:p>
            <a:pPr algn="l">
              <a:spcAft>
                <a:spcPts val="600"/>
              </a:spcAft>
            </a:pPr>
            <a:r>
              <a:rPr sz="1000" b="0">
                <a:solidFill>
                  <a:srgbClr val="5B6B82"/>
                </a:solidFill>
                <a:latin typeface="Calibri"/>
              </a:rPr>
              <a:t>Independent portfolio project - not affiliated with NBCUniversal. Sources: OzTAM VOZ, Netflix Top 10, Nielsen, TMDB/JustWatch.</a:t>
            </a:r>
          </a:p>
        </p:txBody>
      </p:sp>
      <p:graphicFrame>
        <p:nvGraphicFramePr>
          <p:cNvPr id="4" name="Table 3"/>
          <p:cNvGraphicFramePr>
            <a:graphicFrameLocks noGrp="1"/>
          </p:cNvGraphicFramePr>
          <p:nvPr/>
        </p:nvGraphicFramePr>
        <p:xfrm>
          <a:off x="548640" y="1371600"/>
          <a:ext cx="7315200" cy="3456432"/>
        </p:xfrm>
        <a:graphic>
          <a:graphicData uri="http://schemas.openxmlformats.org/drawingml/2006/table">
            <a:tbl>
              <a:tblPr firstRow="1" bandRow="1">
                <a:tableStyleId>{5C22544A-7EE6-4342-B048-85BDC9FD1C3A}</a:tableStyleId>
              </a:tblPr>
              <a:tblGrid>
                <a:gridCol w="3108960"/>
                <a:gridCol w="1554480"/>
                <a:gridCol w="1737360"/>
                <a:gridCol w="914400"/>
              </a:tblGrid>
              <a:tr h="384048">
                <a:tc>
                  <a:txBody>
                    <a:bodyPr/>
                    <a:lstStyle/>
                    <a:p>
                      <a:r>
                        <a:rPr sz="1400" b="1">
                          <a:solidFill>
                            <a:srgbClr val="FFFFFF"/>
                          </a:solidFill>
                          <a:latin typeface="Calibri"/>
                        </a:rPr>
                        <a:t>Title</a:t>
                      </a:r>
                    </a:p>
                  </a:txBody>
                  <a:tcPr>
                    <a:solidFill>
                      <a:srgbClr val="1B2A41"/>
                    </a:solidFill>
                  </a:tcPr>
                </a:tc>
                <a:tc>
                  <a:txBody>
                    <a:bodyPr/>
                    <a:lstStyle/>
                    <a:p>
                      <a:r>
                        <a:rPr sz="1400" b="1">
                          <a:solidFill>
                            <a:srgbClr val="FFFFFF"/>
                          </a:solidFill>
                          <a:latin typeface="Calibri"/>
                        </a:rPr>
                        <a:t>Evidence</a:t>
                      </a:r>
                    </a:p>
                  </a:txBody>
                  <a:tcPr>
                    <a:solidFill>
                      <a:srgbClr val="1B2A41"/>
                    </a:solidFill>
                  </a:tcPr>
                </a:tc>
                <a:tc>
                  <a:txBody>
                    <a:bodyPr/>
                    <a:lstStyle/>
                    <a:p>
                      <a:r>
                        <a:rPr sz="1400" b="1">
                          <a:solidFill>
                            <a:srgbClr val="FFFFFF"/>
                          </a:solidFill>
                          <a:latin typeface="Calibri"/>
                        </a:rPr>
                        <a:t>Pitch to</a:t>
                      </a:r>
                    </a:p>
                  </a:txBody>
                  <a:tcPr>
                    <a:solidFill>
                      <a:srgbClr val="1B2A41"/>
                    </a:solidFill>
                  </a:tcPr>
                </a:tc>
                <a:tc>
                  <a:txBody>
                    <a:bodyPr/>
                    <a:lstStyle/>
                    <a:p>
                      <a:r>
                        <a:rPr sz="1400" b="1">
                          <a:solidFill>
                            <a:srgbClr val="FFFFFF"/>
                          </a:solidFill>
                          <a:latin typeface="Calibri"/>
                        </a:rPr>
                        <a:t>Score</a:t>
                      </a:r>
                    </a:p>
                  </a:txBody>
                  <a:tcPr>
                    <a:solidFill>
                      <a:srgbClr val="1B2A41"/>
                    </a:solidFill>
                  </a:tcPr>
                </a:tc>
              </a:tr>
              <a:tr h="384048">
                <a:tc>
                  <a:txBody>
                    <a:bodyPr/>
                    <a:lstStyle/>
                    <a:p>
                      <a:r>
                        <a:rPr sz="1400" b="0">
                          <a:solidFill>
                            <a:srgbClr val="1A1A1A"/>
                          </a:solidFill>
                          <a:latin typeface="Calibri"/>
                        </a:rPr>
                        <a:t>The Super Mario Galaxy Movie (2026)</a:t>
                      </a:r>
                    </a:p>
                  </a:txBody>
                  <a:tcPr>
                    <a:solidFill>
                      <a:srgbClr val="EEF1F5"/>
                    </a:solidFill>
                  </a:tcPr>
                </a:tc>
                <a:tc>
                  <a:txBody>
                    <a:bodyPr/>
                    <a:lstStyle/>
                    <a:p>
                      <a:r>
                        <a:rPr sz="1400" b="0">
                          <a:solidFill>
                            <a:srgbClr val="1A1A1A"/>
                          </a:solidFill>
                          <a:latin typeface="Calibri"/>
                        </a:rPr>
                        <a:t>US chart hit</a:t>
                      </a:r>
                    </a:p>
                  </a:txBody>
                  <a:tcPr>
                    <a:solidFill>
                      <a:srgbClr val="EEF1F5"/>
                    </a:solidFill>
                  </a:tcPr>
                </a:tc>
                <a:tc>
                  <a:txBody>
                    <a:bodyPr/>
                    <a:lstStyle/>
                    <a:p>
                      <a:r>
                        <a:rPr sz="1400" b="0">
                          <a:solidFill>
                            <a:srgbClr val="1A1A1A"/>
                          </a:solidFill>
                          <a:latin typeface="Calibri"/>
                        </a:rPr>
                        <a:t>Paid streamers</a:t>
                      </a:r>
                    </a:p>
                  </a:txBody>
                  <a:tcPr>
                    <a:solidFill>
                      <a:srgbClr val="EEF1F5"/>
                    </a:solidFill>
                  </a:tcPr>
                </a:tc>
                <a:tc>
                  <a:txBody>
                    <a:bodyPr/>
                    <a:lstStyle/>
                    <a:p>
                      <a:r>
                        <a:rPr sz="1400" b="0">
                          <a:solidFill>
                            <a:srgbClr val="1A1A1A"/>
                          </a:solidFill>
                          <a:latin typeface="Calibri"/>
                        </a:rPr>
                        <a:t>28</a:t>
                      </a:r>
                    </a:p>
                  </a:txBody>
                  <a:tcPr>
                    <a:solidFill>
                      <a:srgbClr val="EEF1F5"/>
                    </a:solidFill>
                  </a:tcPr>
                </a:tc>
              </a:tr>
              <a:tr h="384048">
                <a:tc>
                  <a:txBody>
                    <a:bodyPr/>
                    <a:lstStyle/>
                    <a:p>
                      <a:r>
                        <a:rPr sz="1400" b="0">
                          <a:solidFill>
                            <a:srgbClr val="1A1A1A"/>
                          </a:solidFill>
                          <a:latin typeface="Calibri"/>
                        </a:rPr>
                        <a:t>Homicide Squad New Orleans (2025)</a:t>
                      </a:r>
                    </a:p>
                  </a:txBody>
                  <a:tcPr>
                    <a:solidFill>
                      <a:srgbClr val="FFFFFF"/>
                    </a:solidFill>
                  </a:tcPr>
                </a:tc>
                <a:tc>
                  <a:txBody>
                    <a:bodyPr/>
                    <a:lstStyle/>
                    <a:p>
                      <a:r>
                        <a:rPr sz="1400" b="0">
                          <a:solidFill>
                            <a:srgbClr val="1A1A1A"/>
                          </a:solidFill>
                          <a:latin typeface="Calibri"/>
                        </a:rPr>
                        <a:t>US chart hit</a:t>
                      </a:r>
                    </a:p>
                  </a:txBody>
                  <a:tcPr>
                    <a:solidFill>
                      <a:srgbClr val="FFFFFF"/>
                    </a:solidFill>
                  </a:tcPr>
                </a:tc>
                <a:tc>
                  <a:txBody>
                    <a:bodyPr/>
                    <a:lstStyle/>
                    <a:p>
                      <a:r>
                        <a:rPr sz="1400" b="0">
                          <a:solidFill>
                            <a:srgbClr val="1A1A1A"/>
                          </a:solidFill>
                          <a:latin typeface="Calibri"/>
                        </a:rPr>
                        <a:t>Paid streamers</a:t>
                      </a:r>
                    </a:p>
                  </a:txBody>
                  <a:tcPr>
                    <a:solidFill>
                      <a:srgbClr val="FFFFFF"/>
                    </a:solidFill>
                  </a:tcPr>
                </a:tc>
                <a:tc>
                  <a:txBody>
                    <a:bodyPr/>
                    <a:lstStyle/>
                    <a:p>
                      <a:r>
                        <a:rPr sz="1400" b="0">
                          <a:solidFill>
                            <a:srgbClr val="1A1A1A"/>
                          </a:solidFill>
                          <a:latin typeface="Calibri"/>
                        </a:rPr>
                        <a:t>26</a:t>
                      </a:r>
                    </a:p>
                  </a:txBody>
                  <a:tcPr>
                    <a:solidFill>
                      <a:srgbClr val="FFFFFF"/>
                    </a:solidFill>
                  </a:tcPr>
                </a:tc>
              </a:tr>
              <a:tr h="384048">
                <a:tc>
                  <a:txBody>
                    <a:bodyPr/>
                    <a:lstStyle/>
                    <a:p>
                      <a:r>
                        <a:rPr sz="1400" b="0">
                          <a:solidFill>
                            <a:srgbClr val="1A1A1A"/>
                          </a:solidFill>
                          <a:latin typeface="Calibri"/>
                        </a:rPr>
                        <a:t>Straight Outta Compton (2015)</a:t>
                      </a:r>
                    </a:p>
                  </a:txBody>
                  <a:tcPr>
                    <a:solidFill>
                      <a:srgbClr val="EEF1F5"/>
                    </a:solidFill>
                  </a:tcPr>
                </a:tc>
                <a:tc>
                  <a:txBody>
                    <a:bodyPr/>
                    <a:lstStyle/>
                    <a:p>
                      <a:r>
                        <a:rPr sz="1400" b="0">
                          <a:solidFill>
                            <a:srgbClr val="1A1A1A"/>
                          </a:solidFill>
                          <a:latin typeface="Calibri"/>
                        </a:rPr>
                        <a:t>US chart hit</a:t>
                      </a:r>
                    </a:p>
                  </a:txBody>
                  <a:tcPr>
                    <a:solidFill>
                      <a:srgbClr val="EEF1F5"/>
                    </a:solidFill>
                  </a:tcPr>
                </a:tc>
                <a:tc>
                  <a:txBody>
                    <a:bodyPr/>
                    <a:lstStyle/>
                    <a:p>
                      <a:r>
                        <a:rPr sz="1400" b="0">
                          <a:solidFill>
                            <a:srgbClr val="1A1A1A"/>
                          </a:solidFill>
                          <a:latin typeface="Calibri"/>
                        </a:rPr>
                        <a:t>Paid streamers</a:t>
                      </a:r>
                    </a:p>
                  </a:txBody>
                  <a:tcPr>
                    <a:solidFill>
                      <a:srgbClr val="EEF1F5"/>
                    </a:solidFill>
                  </a:tcPr>
                </a:tc>
                <a:tc>
                  <a:txBody>
                    <a:bodyPr/>
                    <a:lstStyle/>
                    <a:p>
                      <a:r>
                        <a:rPr sz="1400" b="0">
                          <a:solidFill>
                            <a:srgbClr val="1A1A1A"/>
                          </a:solidFill>
                          <a:latin typeface="Calibri"/>
                        </a:rPr>
                        <a:t>19</a:t>
                      </a:r>
                    </a:p>
                  </a:txBody>
                  <a:tcPr>
                    <a:solidFill>
                      <a:srgbClr val="EEF1F5"/>
                    </a:solidFill>
                  </a:tcPr>
                </a:tc>
              </a:tr>
              <a:tr h="384048">
                <a:tc>
                  <a:txBody>
                    <a:bodyPr/>
                    <a:lstStyle/>
                    <a:p>
                      <a:r>
                        <a:rPr sz="1400" b="0">
                          <a:solidFill>
                            <a:srgbClr val="1A1A1A"/>
                          </a:solidFill>
                          <a:latin typeface="Calibri"/>
                        </a:rPr>
                        <a:t>Welcome Home Roscoe Jenkins (2008)</a:t>
                      </a:r>
                    </a:p>
                  </a:txBody>
                  <a:tcPr>
                    <a:solidFill>
                      <a:srgbClr val="FFFFFF"/>
                    </a:solidFill>
                  </a:tcPr>
                </a:tc>
                <a:tc>
                  <a:txBody>
                    <a:bodyPr/>
                    <a:lstStyle/>
                    <a:p>
                      <a:r>
                        <a:rPr sz="1400" b="0">
                          <a:solidFill>
                            <a:srgbClr val="1A1A1A"/>
                          </a:solidFill>
                          <a:latin typeface="Calibri"/>
                        </a:rPr>
                        <a:t>US chart hit</a:t>
                      </a:r>
                    </a:p>
                  </a:txBody>
                  <a:tcPr>
                    <a:solidFill>
                      <a:srgbClr val="FFFFFF"/>
                    </a:solidFill>
                  </a:tcPr>
                </a:tc>
                <a:tc>
                  <a:txBody>
                    <a:bodyPr/>
                    <a:lstStyle/>
                    <a:p>
                      <a:r>
                        <a:rPr sz="1400" b="0">
                          <a:solidFill>
                            <a:srgbClr val="1A1A1A"/>
                          </a:solidFill>
                          <a:latin typeface="Calibri"/>
                        </a:rPr>
                        <a:t>Paid streamers</a:t>
                      </a:r>
                    </a:p>
                  </a:txBody>
                  <a:tcPr>
                    <a:solidFill>
                      <a:srgbClr val="FFFFFF"/>
                    </a:solidFill>
                  </a:tcPr>
                </a:tc>
                <a:tc>
                  <a:txBody>
                    <a:bodyPr/>
                    <a:lstStyle/>
                    <a:p>
                      <a:r>
                        <a:rPr sz="1400" b="0">
                          <a:solidFill>
                            <a:srgbClr val="1A1A1A"/>
                          </a:solidFill>
                          <a:latin typeface="Calibri"/>
                        </a:rPr>
                        <a:t>14</a:t>
                      </a:r>
                    </a:p>
                  </a:txBody>
                  <a:tcPr>
                    <a:solidFill>
                      <a:srgbClr val="FFFFFF"/>
                    </a:solidFill>
                  </a:tcPr>
                </a:tc>
              </a:tr>
              <a:tr h="384048">
                <a:tc>
                  <a:txBody>
                    <a:bodyPr/>
                    <a:lstStyle/>
                    <a:p>
                      <a:r>
                        <a:rPr sz="1400" b="0">
                          <a:solidFill>
                            <a:srgbClr val="1A1A1A"/>
                          </a:solidFill>
                          <a:latin typeface="Calibri"/>
                        </a:rPr>
                        <a:t>Migration (2023)</a:t>
                      </a:r>
                    </a:p>
                  </a:txBody>
                  <a:tcPr>
                    <a:solidFill>
                      <a:srgbClr val="EEF1F5"/>
                    </a:solidFill>
                  </a:tcPr>
                </a:tc>
                <a:tc>
                  <a:txBody>
                    <a:bodyPr/>
                    <a:lstStyle/>
                    <a:p>
                      <a:r>
                        <a:rPr sz="1400" b="0">
                          <a:solidFill>
                            <a:srgbClr val="1A1A1A"/>
                          </a:solidFill>
                          <a:latin typeface="Calibri"/>
                        </a:rPr>
                        <a:t>US signal (TMDB)</a:t>
                      </a:r>
                    </a:p>
                  </a:txBody>
                  <a:tcPr>
                    <a:solidFill>
                      <a:srgbClr val="EEF1F5"/>
                    </a:solidFill>
                  </a:tcPr>
                </a:tc>
                <a:tc>
                  <a:txBody>
                    <a:bodyPr/>
                    <a:lstStyle/>
                    <a:p>
                      <a:r>
                        <a:rPr sz="1400" b="0">
                          <a:solidFill>
                            <a:srgbClr val="1A1A1A"/>
                          </a:solidFill>
                          <a:latin typeface="Calibri"/>
                        </a:rPr>
                        <a:t>Paid streamers</a:t>
                      </a:r>
                    </a:p>
                  </a:txBody>
                  <a:tcPr>
                    <a:solidFill>
                      <a:srgbClr val="EEF1F5"/>
                    </a:solidFill>
                  </a:tcPr>
                </a:tc>
                <a:tc>
                  <a:txBody>
                    <a:bodyPr/>
                    <a:lstStyle/>
                    <a:p>
                      <a:r>
                        <a:rPr sz="1400" b="0">
                          <a:solidFill>
                            <a:srgbClr val="1A1A1A"/>
                          </a:solidFill>
                          <a:latin typeface="Calibri"/>
                        </a:rPr>
                        <a:t>66</a:t>
                      </a:r>
                    </a:p>
                  </a:txBody>
                  <a:tcPr>
                    <a:solidFill>
                      <a:srgbClr val="EEF1F5"/>
                    </a:solidFill>
                  </a:tcPr>
                </a:tc>
              </a:tr>
              <a:tr h="384048">
                <a:tc>
                  <a:txBody>
                    <a:bodyPr/>
                    <a:lstStyle/>
                    <a:p>
                      <a:r>
                        <a:rPr sz="1400" b="0">
                          <a:solidFill>
                            <a:srgbClr val="1A1A1A"/>
                          </a:solidFill>
                          <a:latin typeface="Calibri"/>
                        </a:rPr>
                        <a:t>Fast X (2023)</a:t>
                      </a:r>
                    </a:p>
                  </a:txBody>
                  <a:tcPr>
                    <a:solidFill>
                      <a:srgbClr val="FFFFFF"/>
                    </a:solidFill>
                  </a:tcPr>
                </a:tc>
                <a:tc>
                  <a:txBody>
                    <a:bodyPr/>
                    <a:lstStyle/>
                    <a:p>
                      <a:r>
                        <a:rPr sz="1400" b="0">
                          <a:solidFill>
                            <a:srgbClr val="1A1A1A"/>
                          </a:solidFill>
                          <a:latin typeface="Calibri"/>
                        </a:rPr>
                        <a:t>US signal (TMDB)</a:t>
                      </a:r>
                    </a:p>
                  </a:txBody>
                  <a:tcPr>
                    <a:solidFill>
                      <a:srgbClr val="FFFFFF"/>
                    </a:solidFill>
                  </a:tcPr>
                </a:tc>
                <a:tc>
                  <a:txBody>
                    <a:bodyPr/>
                    <a:lstStyle/>
                    <a:p>
                      <a:r>
                        <a:rPr sz="1400" b="0">
                          <a:solidFill>
                            <a:srgbClr val="1A1A1A"/>
                          </a:solidFill>
                          <a:latin typeface="Calibri"/>
                        </a:rPr>
                        <a:t>Paid streamers</a:t>
                      </a:r>
                    </a:p>
                  </a:txBody>
                  <a:tcPr>
                    <a:solidFill>
                      <a:srgbClr val="FFFFFF"/>
                    </a:solidFill>
                  </a:tcPr>
                </a:tc>
                <a:tc>
                  <a:txBody>
                    <a:bodyPr/>
                    <a:lstStyle/>
                    <a:p>
                      <a:r>
                        <a:rPr sz="1400" b="0">
                          <a:solidFill>
                            <a:srgbClr val="1A1A1A"/>
                          </a:solidFill>
                          <a:latin typeface="Calibri"/>
                        </a:rPr>
                        <a:t>59</a:t>
                      </a:r>
                    </a:p>
                  </a:txBody>
                  <a:tcPr>
                    <a:solidFill>
                      <a:srgbClr val="FFFFFF"/>
                    </a:solidFill>
                  </a:tcPr>
                </a:tc>
              </a:tr>
              <a:tr h="384048">
                <a:tc>
                  <a:txBody>
                    <a:bodyPr/>
                    <a:lstStyle/>
                    <a:p>
                      <a:r>
                        <a:rPr sz="1400" b="0">
                          <a:solidFill>
                            <a:srgbClr val="1A1A1A"/>
                          </a:solidFill>
                          <a:latin typeface="Calibri"/>
                        </a:rPr>
                        <a:t>Ruby Gillman, Teenage Kraken (2023)</a:t>
                      </a:r>
                    </a:p>
                  </a:txBody>
                  <a:tcPr>
                    <a:solidFill>
                      <a:srgbClr val="EEF1F5"/>
                    </a:solidFill>
                  </a:tcPr>
                </a:tc>
                <a:tc>
                  <a:txBody>
                    <a:bodyPr/>
                    <a:lstStyle/>
                    <a:p>
                      <a:r>
                        <a:rPr sz="1400" b="0">
                          <a:solidFill>
                            <a:srgbClr val="1A1A1A"/>
                          </a:solidFill>
                          <a:latin typeface="Calibri"/>
                        </a:rPr>
                        <a:t>US signal (TMDB)</a:t>
                      </a:r>
                    </a:p>
                  </a:txBody>
                  <a:tcPr>
                    <a:solidFill>
                      <a:srgbClr val="EEF1F5"/>
                    </a:solidFill>
                  </a:tcPr>
                </a:tc>
                <a:tc>
                  <a:txBody>
                    <a:bodyPr/>
                    <a:lstStyle/>
                    <a:p>
                      <a:r>
                        <a:rPr sz="1400" b="0">
                          <a:solidFill>
                            <a:srgbClr val="1A1A1A"/>
                          </a:solidFill>
                          <a:latin typeface="Calibri"/>
                        </a:rPr>
                        <a:t>Paid streamers</a:t>
                      </a:r>
                    </a:p>
                  </a:txBody>
                  <a:tcPr>
                    <a:solidFill>
                      <a:srgbClr val="EEF1F5"/>
                    </a:solidFill>
                  </a:tcPr>
                </a:tc>
                <a:tc>
                  <a:txBody>
                    <a:bodyPr/>
                    <a:lstStyle/>
                    <a:p>
                      <a:r>
                        <a:rPr sz="1400" b="0">
                          <a:solidFill>
                            <a:srgbClr val="1A1A1A"/>
                          </a:solidFill>
                          <a:latin typeface="Calibri"/>
                        </a:rPr>
                        <a:t>59</a:t>
                      </a:r>
                    </a:p>
                  </a:txBody>
                  <a:tcPr>
                    <a:solidFill>
                      <a:srgbClr val="EEF1F5"/>
                    </a:solidFill>
                  </a:tcPr>
                </a:tc>
              </a:tr>
              <a:tr h="384048">
                <a:tc>
                  <a:txBody>
                    <a:bodyPr/>
                    <a:lstStyle/>
                    <a:p>
                      <a:r>
                        <a:rPr sz="1400" b="0">
                          <a:solidFill>
                            <a:srgbClr val="1A1A1A"/>
                          </a:solidFill>
                          <a:latin typeface="Calibri"/>
                        </a:rPr>
                        <a:t>Renfield (2023)</a:t>
                      </a:r>
                    </a:p>
                  </a:txBody>
                  <a:tcPr>
                    <a:solidFill>
                      <a:srgbClr val="FFFFFF"/>
                    </a:solidFill>
                  </a:tcPr>
                </a:tc>
                <a:tc>
                  <a:txBody>
                    <a:bodyPr/>
                    <a:lstStyle/>
                    <a:p>
                      <a:r>
                        <a:rPr sz="1400" b="0">
                          <a:solidFill>
                            <a:srgbClr val="1A1A1A"/>
                          </a:solidFill>
                          <a:latin typeface="Calibri"/>
                        </a:rPr>
                        <a:t>US signal (TMDB)</a:t>
                      </a:r>
                    </a:p>
                  </a:txBody>
                  <a:tcPr>
                    <a:solidFill>
                      <a:srgbClr val="FFFFFF"/>
                    </a:solidFill>
                  </a:tcPr>
                </a:tc>
                <a:tc>
                  <a:txBody>
                    <a:bodyPr/>
                    <a:lstStyle/>
                    <a:p>
                      <a:r>
                        <a:rPr sz="1400" b="0">
                          <a:solidFill>
                            <a:srgbClr val="1A1A1A"/>
                          </a:solidFill>
                          <a:latin typeface="Calibri"/>
                        </a:rPr>
                        <a:t>Paid streamers</a:t>
                      </a:r>
                    </a:p>
                  </a:txBody>
                  <a:tcPr>
                    <a:solidFill>
                      <a:srgbClr val="FFFFFF"/>
                    </a:solidFill>
                  </a:tcPr>
                </a:tc>
                <a:tc>
                  <a:txBody>
                    <a:bodyPr/>
                    <a:lstStyle/>
                    <a:p>
                      <a:r>
                        <a:rPr sz="1400" b="0">
                          <a:solidFill>
                            <a:srgbClr val="1A1A1A"/>
                          </a:solidFill>
                          <a:latin typeface="Calibri"/>
                        </a:rPr>
                        <a:t>52</a:t>
                      </a:r>
                    </a:p>
                  </a:txBody>
                  <a:tcPr>
                    <a:solidFill>
                      <a:srgbClr val="FFFFFF"/>
                    </a:solidFill>
                  </a:tcPr>
                </a:tc>
              </a:tr>
            </a:tbl>
          </a:graphicData>
        </a:graphic>
      </p:graphicFrame>
      <p:sp>
        <p:nvSpPr>
          <p:cNvPr id="5" name="Rounded Rectangle 4"/>
          <p:cNvSpPr/>
          <p:nvPr/>
        </p:nvSpPr>
        <p:spPr>
          <a:xfrm>
            <a:off x="8229600" y="1371600"/>
            <a:ext cx="3383280" cy="4754880"/>
          </a:xfrm>
          <a:prstGeom prst="roundRect">
            <a:avLst>
              <a:gd name="adj" fmla="val 8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0" y="1554480"/>
            <a:ext cx="2926080" cy="4480560"/>
          </a:xfrm>
          <a:prstGeom prst="rect">
            <a:avLst/>
          </a:prstGeom>
          <a:noFill/>
        </p:spPr>
        <p:txBody>
          <a:bodyPr wrap="square" anchor="t" lIns="0" rIns="0">
            <a:spAutoFit/>
          </a:bodyPr>
          <a:lstStyle/>
          <a:p>
            <a:pPr algn="l">
              <a:spcAft>
                <a:spcPts val="600"/>
              </a:spcAft>
            </a:pPr>
            <a:r>
              <a:rPr sz="1600" b="1">
                <a:solidFill>
                  <a:srgbClr val="1B2A41"/>
                </a:solidFill>
                <a:latin typeface="Calibri"/>
              </a:rPr>
              <a:t>Renewal watch-list</a:t>
            </a:r>
          </a:p>
          <a:p>
            <a:pPr algn="l">
              <a:spcAft>
                <a:spcPts val="600"/>
              </a:spcAft>
            </a:pPr>
            <a:r>
              <a:rPr sz="1400" b="0">
                <a:solidFill>
                  <a:srgbClr val="1A1A1A"/>
                </a:solidFill>
                <a:latin typeface="Calibri"/>
              </a:rPr>
              <a:t>30 NBCU titles are licensed in Australia but never chart.</a:t>
            </a:r>
          </a:p>
          <a:p>
            <a:pPr algn="l">
              <a:spcAft>
                <a:spcPts val="600"/>
              </a:spcAft>
            </a:pPr>
            <a:r>
              <a:rPr sz="1400" b="1">
                <a:solidFill>
                  <a:srgbClr val="E4572E"/>
                </a:solidFill>
                <a:latin typeface="Calibri"/>
              </a:rPr>
              <a:t>Re-pitch to free-to-air at renewal:</a:t>
            </a:r>
          </a:p>
          <a:p>
            <a:pPr algn="l">
              <a:spcAft>
                <a:spcPts val="600"/>
              </a:spcAft>
            </a:pPr>
            <a:r>
              <a:rPr sz="1400" b="0">
                <a:solidFill>
                  <a:srgbClr val="1A1A1A"/>
                </a:solidFill>
                <a:latin typeface="Calibri"/>
              </a:rPr>
              <a:t>Law &amp; Order, La Brea, All Her Fault, The Hunting Party.</a:t>
            </a:r>
          </a:p>
          <a:p>
            <a:pPr algn="l">
              <a:spcAft>
                <a:spcPts val="600"/>
              </a:spcAft>
            </a:pPr>
            <a:r>
              <a:rPr sz="1200" b="0">
                <a:solidFill>
                  <a:srgbClr val="5B6B82"/>
                </a:solidFill>
                <a:latin typeface="Calibri"/>
              </a:rPr>
              <a:t>Excluded: Peacock originals (Stan output deal) and other streamers' originals.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548640" y="320040"/>
            <a:ext cx="11064240" cy="1005840"/>
          </a:xfrm>
          <a:prstGeom prst="rect">
            <a:avLst/>
          </a:prstGeom>
          <a:noFill/>
        </p:spPr>
        <p:txBody>
          <a:bodyPr wrap="square" anchor="t" lIns="0" rIns="0">
            <a:spAutoFit/>
          </a:bodyPr>
          <a:lstStyle/>
          <a:p>
            <a:pPr algn="l">
              <a:spcAft>
                <a:spcPts val="600"/>
              </a:spcAft>
            </a:pPr>
            <a:r>
              <a:rPr sz="3000" b="1">
                <a:solidFill>
                  <a:srgbClr val="FFFFFF"/>
                </a:solidFill>
                <a:latin typeface="Cambria"/>
              </a:rPr>
              <a:t>Next steps</a:t>
            </a:r>
          </a:p>
        </p:txBody>
      </p:sp>
      <p:sp>
        <p:nvSpPr>
          <p:cNvPr id="3" name="TextBox 2"/>
          <p:cNvSpPr txBox="1"/>
          <p:nvPr/>
        </p:nvSpPr>
        <p:spPr>
          <a:xfrm>
            <a:off x="548640" y="6400800"/>
            <a:ext cx="11064240" cy="274320"/>
          </a:xfrm>
          <a:prstGeom prst="rect">
            <a:avLst/>
          </a:prstGeom>
          <a:noFill/>
        </p:spPr>
        <p:txBody>
          <a:bodyPr wrap="square" anchor="t" lIns="0" rIns="0">
            <a:spAutoFit/>
          </a:bodyPr>
          <a:lstStyle/>
          <a:p>
            <a:pPr algn="l">
              <a:spcAft>
                <a:spcPts val="600"/>
              </a:spcAft>
            </a:pPr>
            <a:r>
              <a:rPr sz="1000" b="0">
                <a:solidFill>
                  <a:srgbClr val="B8C2D0"/>
                </a:solidFill>
                <a:latin typeface="Calibri"/>
              </a:rPr>
              <a:t>Independent portfolio project - not affiliated with NBCUniversal. Sources: OzTAM VOZ, Netflix Top 10, Nielsen, TMDB/JustWatch.</a:t>
            </a:r>
          </a:p>
        </p:txBody>
      </p:sp>
      <p:sp>
        <p:nvSpPr>
          <p:cNvPr id="4" name="Oval 3"/>
          <p:cNvSpPr/>
          <p:nvPr/>
        </p:nvSpPr>
        <p:spPr>
          <a:xfrm>
            <a:off x="548640" y="1508760"/>
            <a:ext cx="457200" cy="45720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5" name="TextBox 4"/>
          <p:cNvSpPr txBox="1"/>
          <p:nvPr/>
        </p:nvSpPr>
        <p:spPr>
          <a:xfrm>
            <a:off x="1188720" y="1463040"/>
            <a:ext cx="6035040" cy="457200"/>
          </a:xfrm>
          <a:prstGeom prst="rect">
            <a:avLst/>
          </a:prstGeom>
          <a:noFill/>
        </p:spPr>
        <p:txBody>
          <a:bodyPr wrap="square" anchor="t" lIns="0" rIns="0">
            <a:spAutoFit/>
          </a:bodyPr>
          <a:lstStyle/>
          <a:p>
            <a:pPr algn="l">
              <a:spcAft>
                <a:spcPts val="600"/>
              </a:spcAft>
            </a:pPr>
            <a:r>
              <a:rPr sz="1800" b="1">
                <a:solidFill>
                  <a:srgbClr val="FFFFFF"/>
                </a:solidFill>
                <a:latin typeface="Cambria"/>
              </a:rPr>
              <a:t>Open procedural conversations with Seven and Ten</a:t>
            </a:r>
          </a:p>
        </p:txBody>
      </p:sp>
      <p:sp>
        <p:nvSpPr>
          <p:cNvPr id="6" name="TextBox 5"/>
          <p:cNvSpPr txBox="1"/>
          <p:nvPr/>
        </p:nvSpPr>
        <p:spPr>
          <a:xfrm>
            <a:off x="1188720" y="1920240"/>
            <a:ext cx="6035040" cy="548640"/>
          </a:xfrm>
          <a:prstGeom prst="rect">
            <a:avLst/>
          </a:prstGeom>
          <a:noFill/>
        </p:spPr>
        <p:txBody>
          <a:bodyPr wrap="square" anchor="t" lIns="0" rIns="0">
            <a:spAutoFit/>
          </a:bodyPr>
          <a:lstStyle/>
          <a:p>
            <a:pPr algn="l">
              <a:spcAft>
                <a:spcPts val="600"/>
              </a:spcAft>
            </a:pPr>
            <a:r>
              <a:rPr sz="1400" b="0">
                <a:solidFill>
                  <a:srgbClr val="DDE3EA"/>
                </a:solidFill>
                <a:latin typeface="Calibri"/>
              </a:rPr>
              <a:t>Package Law &amp; Order with newer crime series; use The Rookie and 9-1-1 as proof points.</a:t>
            </a:r>
          </a:p>
        </p:txBody>
      </p:sp>
      <p:sp>
        <p:nvSpPr>
          <p:cNvPr id="7" name="Oval 6"/>
          <p:cNvSpPr/>
          <p:nvPr/>
        </p:nvSpPr>
        <p:spPr>
          <a:xfrm>
            <a:off x="548640" y="2606039"/>
            <a:ext cx="457200" cy="45720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8" name="TextBox 7"/>
          <p:cNvSpPr txBox="1"/>
          <p:nvPr/>
        </p:nvSpPr>
        <p:spPr>
          <a:xfrm>
            <a:off x="1188720" y="2560320"/>
            <a:ext cx="6035040" cy="457200"/>
          </a:xfrm>
          <a:prstGeom prst="rect">
            <a:avLst/>
          </a:prstGeom>
          <a:noFill/>
        </p:spPr>
        <p:txBody>
          <a:bodyPr wrap="square" anchor="t" lIns="0" rIns="0">
            <a:spAutoFit/>
          </a:bodyPr>
          <a:lstStyle/>
          <a:p>
            <a:pPr algn="l">
              <a:spcAft>
                <a:spcPts val="600"/>
              </a:spcAft>
            </a:pPr>
            <a:r>
              <a:rPr sz="1800" b="1">
                <a:solidFill>
                  <a:srgbClr val="FFFFFF"/>
                </a:solidFill>
                <a:latin typeface="Cambria"/>
              </a:rPr>
              <a:t>Take the film and family slate to Stan and BINGE</a:t>
            </a:r>
          </a:p>
        </p:txBody>
      </p:sp>
      <p:sp>
        <p:nvSpPr>
          <p:cNvPr id="9" name="TextBox 8"/>
          <p:cNvSpPr txBox="1"/>
          <p:nvPr/>
        </p:nvSpPr>
        <p:spPr>
          <a:xfrm>
            <a:off x="1188720" y="3017520"/>
            <a:ext cx="6035040" cy="548640"/>
          </a:xfrm>
          <a:prstGeom prst="rect">
            <a:avLst/>
          </a:prstGeom>
          <a:noFill/>
        </p:spPr>
        <p:txBody>
          <a:bodyPr wrap="square" anchor="t" lIns="0" rIns="0">
            <a:spAutoFit/>
          </a:bodyPr>
          <a:lstStyle/>
          <a:p>
            <a:pPr algn="l">
              <a:spcAft>
                <a:spcPts val="600"/>
              </a:spcAft>
            </a:pPr>
            <a:r>
              <a:rPr sz="1400" b="0">
                <a:solidFill>
                  <a:srgbClr val="DDE3EA"/>
                </a:solidFill>
                <a:latin typeface="Calibri"/>
              </a:rPr>
              <a:t>Lead with The Super Mario Galaxy Movie, then Migration, Fast X and Renfield.</a:t>
            </a:r>
          </a:p>
        </p:txBody>
      </p:sp>
      <p:sp>
        <p:nvSpPr>
          <p:cNvPr id="10" name="Oval 9"/>
          <p:cNvSpPr/>
          <p:nvPr/>
        </p:nvSpPr>
        <p:spPr>
          <a:xfrm>
            <a:off x="548640" y="3703320"/>
            <a:ext cx="457200" cy="45720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188720" y="3657600"/>
            <a:ext cx="6035040" cy="457200"/>
          </a:xfrm>
          <a:prstGeom prst="rect">
            <a:avLst/>
          </a:prstGeom>
          <a:noFill/>
        </p:spPr>
        <p:txBody>
          <a:bodyPr wrap="square" anchor="t" lIns="0" rIns="0">
            <a:spAutoFit/>
          </a:bodyPr>
          <a:lstStyle/>
          <a:p>
            <a:pPr algn="l">
              <a:spcAft>
                <a:spcPts val="600"/>
              </a:spcAft>
            </a:pPr>
            <a:r>
              <a:rPr sz="1800" b="1">
                <a:solidFill>
                  <a:srgbClr val="FFFFFF"/>
                </a:solidFill>
                <a:latin typeface="Cambria"/>
              </a:rPr>
              <a:t>Add marketing commitments to licence renewals</a:t>
            </a:r>
          </a:p>
        </p:txBody>
      </p:sp>
      <p:sp>
        <p:nvSpPr>
          <p:cNvPr id="12" name="TextBox 11"/>
          <p:cNvSpPr txBox="1"/>
          <p:nvPr/>
        </p:nvSpPr>
        <p:spPr>
          <a:xfrm>
            <a:off x="1188720" y="4114800"/>
            <a:ext cx="6035040" cy="548640"/>
          </a:xfrm>
          <a:prstGeom prst="rect">
            <a:avLst/>
          </a:prstGeom>
          <a:noFill/>
        </p:spPr>
        <p:txBody>
          <a:bodyPr wrap="square" anchor="t" lIns="0" rIns="0">
            <a:spAutoFit/>
          </a:bodyPr>
          <a:lstStyle/>
          <a:p>
            <a:pPr algn="l">
              <a:spcAft>
                <a:spcPts val="600"/>
              </a:spcAft>
            </a:pPr>
            <a:r>
              <a:rPr sz="1400" b="0">
                <a:solidFill>
                  <a:srgbClr val="DDE3EA"/>
                </a:solidFill>
                <a:latin typeface="Calibri"/>
              </a:rPr>
              <a:t>Licensed titles chart far less often than originals: make promotion part of the deal.</a:t>
            </a:r>
          </a:p>
        </p:txBody>
      </p:sp>
      <p:sp>
        <p:nvSpPr>
          <p:cNvPr id="13" name="Oval 12"/>
          <p:cNvSpPr/>
          <p:nvPr/>
        </p:nvSpPr>
        <p:spPr>
          <a:xfrm>
            <a:off x="548640" y="4800599"/>
            <a:ext cx="457200" cy="45720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4" name="TextBox 13"/>
          <p:cNvSpPr txBox="1"/>
          <p:nvPr/>
        </p:nvSpPr>
        <p:spPr>
          <a:xfrm>
            <a:off x="1188720" y="4754879"/>
            <a:ext cx="6035040" cy="457200"/>
          </a:xfrm>
          <a:prstGeom prst="rect">
            <a:avLst/>
          </a:prstGeom>
          <a:noFill/>
        </p:spPr>
        <p:txBody>
          <a:bodyPr wrap="square" anchor="t" lIns="0" rIns="0">
            <a:spAutoFit/>
          </a:bodyPr>
          <a:lstStyle/>
          <a:p>
            <a:pPr algn="l">
              <a:spcAft>
                <a:spcPts val="600"/>
              </a:spcAft>
            </a:pPr>
            <a:r>
              <a:rPr sz="1800" b="1">
                <a:solidFill>
                  <a:srgbClr val="FFFFFF"/>
                </a:solidFill>
                <a:latin typeface="Cambria"/>
              </a:rPr>
              <a:t>Close the data gaps</a:t>
            </a:r>
          </a:p>
        </p:txBody>
      </p:sp>
      <p:sp>
        <p:nvSpPr>
          <p:cNvPr id="15" name="TextBox 14"/>
          <p:cNvSpPr txBox="1"/>
          <p:nvPr/>
        </p:nvSpPr>
        <p:spPr>
          <a:xfrm>
            <a:off x="1188720" y="5212079"/>
            <a:ext cx="6035040" cy="548640"/>
          </a:xfrm>
          <a:prstGeom prst="rect">
            <a:avLst/>
          </a:prstGeom>
          <a:noFill/>
        </p:spPr>
        <p:txBody>
          <a:bodyPr wrap="square" anchor="t" lIns="0" rIns="0">
            <a:spAutoFit/>
          </a:bodyPr>
          <a:lstStyle/>
          <a:p>
            <a:pPr algn="l">
              <a:spcAft>
                <a:spcPts val="600"/>
              </a:spcAft>
            </a:pPr>
            <a:r>
              <a:rPr sz="1400" b="0">
                <a:solidFill>
                  <a:srgbClr val="DDE3EA"/>
                </a:solidFill>
                <a:latin typeface="Calibri"/>
              </a:rPr>
              <a:t>Add full Nielsen history and subscriber data for Stan and BINGE to test these patterns.</a:t>
            </a:r>
          </a:p>
        </p:txBody>
      </p:sp>
      <p:sp>
        <p:nvSpPr>
          <p:cNvPr id="16" name="Rounded Rectangle 15"/>
          <p:cNvSpPr/>
          <p:nvPr/>
        </p:nvSpPr>
        <p:spPr>
          <a:xfrm>
            <a:off x="7680960" y="1463040"/>
            <a:ext cx="3931920" cy="4572000"/>
          </a:xfrm>
          <a:prstGeom prst="roundRect">
            <a:avLst>
              <a:gd name="adj" fmla="val 8000"/>
            </a:avLst>
          </a:prstGeom>
          <a:solidFill>
            <a:srgbClr val="26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79" y="1645920"/>
            <a:ext cx="3474720" cy="4297680"/>
          </a:xfrm>
          <a:prstGeom prst="rect">
            <a:avLst/>
          </a:prstGeom>
          <a:noFill/>
        </p:spPr>
        <p:txBody>
          <a:bodyPr wrap="square" anchor="t" lIns="0" rIns="0">
            <a:spAutoFit/>
          </a:bodyPr>
          <a:lstStyle/>
          <a:p>
            <a:pPr algn="l">
              <a:spcAft>
                <a:spcPts val="600"/>
              </a:spcAft>
            </a:pPr>
            <a:r>
              <a:rPr sz="1600" b="1">
                <a:solidFill>
                  <a:srgbClr val="FFFFFF"/>
                </a:solidFill>
                <a:latin typeface="Calibri"/>
              </a:rPr>
              <a:t>Caveats</a:t>
            </a:r>
          </a:p>
          <a:p>
            <a:pPr algn="l">
              <a:spcAft>
                <a:spcPts val="600"/>
              </a:spcAft>
            </a:pPr>
            <a:r>
              <a:rPr sz="1400" b="0">
                <a:solidFill>
                  <a:srgbClr val="DDE3EA"/>
                </a:solidFill>
                <a:latin typeface="Calibri"/>
              </a:rPr>
              <a:t>Free TV scores rest on ~10 US titles: direction, not precision.</a:t>
            </a:r>
          </a:p>
          <a:p>
            <a:pPr algn="l">
              <a:spcAft>
                <a:spcPts val="600"/>
              </a:spcAft>
            </a:pPr>
            <a:r>
              <a:rPr sz="1400" b="0">
                <a:solidFill>
                  <a:srgbClr val="DDE3EA"/>
                </a:solidFill>
                <a:latin typeface="Calibri"/>
              </a:rPr>
              <a:t>Stan, BINGE and Prime publish no charts; Netflix Australia is the proxy.</a:t>
            </a:r>
          </a:p>
          <a:p>
            <a:pPr algn="l">
              <a:spcAft>
                <a:spcPts val="600"/>
              </a:spcAft>
            </a:pPr>
            <a:r>
              <a:rPr sz="1400" b="0">
                <a:solidFill>
                  <a:srgbClr val="DDE3EA"/>
                </a:solidFill>
                <a:latin typeface="Calibri"/>
              </a:rPr>
              <a:t>Nielsen is a 13-week sample; Netflix covers all 52 weeks.</a:t>
            </a:r>
          </a:p>
          <a:p>
            <a:pPr algn="l">
              <a:spcAft>
                <a:spcPts val="600"/>
              </a:spcAft>
            </a:pPr>
            <a:r>
              <a:rPr sz="1400" b="0">
                <a:solidFill>
                  <a:srgbClr val="DDE3EA"/>
                </a:solidFill>
                <a:latin typeface="Calibri"/>
              </a:rPr>
              <a:t>Rights and availability from public data; confirm with contracts.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